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6" r:id="rId1"/>
  </p:sldMasterIdLst>
  <p:notesMasterIdLst>
    <p:notesMasterId r:id="rId15"/>
  </p:notesMasterIdLst>
  <p:sldIdLst>
    <p:sldId id="275" r:id="rId2"/>
    <p:sldId id="257" r:id="rId3"/>
    <p:sldId id="258" r:id="rId4"/>
    <p:sldId id="259" r:id="rId5"/>
    <p:sldId id="262" r:id="rId6"/>
    <p:sldId id="271" r:id="rId7"/>
    <p:sldId id="272" r:id="rId8"/>
    <p:sldId id="273" r:id="rId9"/>
    <p:sldId id="265" r:id="rId10"/>
    <p:sldId id="276" r:id="rId11"/>
    <p:sldId id="269" r:id="rId12"/>
    <p:sldId id="277" r:id="rId13"/>
    <p:sldId id="274" r:id="rId14"/>
  </p:sldIdLst>
  <p:sldSz cx="18288000" cy="10287000"/>
  <p:notesSz cx="6858000" cy="9144000"/>
  <p:embeddedFontLst>
    <p:embeddedFont>
      <p:font typeface="Calibri Light" pitchFamily="34" charset="0"/>
      <p:regular r:id="rId16"/>
      <p:italic r:id="rId17"/>
    </p:embeddedFont>
    <p:embeddedFont>
      <p:font typeface="Figtree" charset="0"/>
      <p:regular r:id="rId18"/>
      <p:bold r:id="rId19"/>
      <p:italic r:id="rId20"/>
      <p:boldItalic r:id="rId21"/>
    </p:embeddedFont>
    <p:embeddedFont>
      <p:font typeface="Times New Roman Bold" pitchFamily="18" charset="0"/>
      <p:bold r:id="rId22"/>
    </p:embeddedFont>
    <p:embeddedFont>
      <p:font typeface="Calibri" pitchFamily="34" charset="0"/>
      <p:regular r:id="rId23"/>
      <p:bold r:id="rId24"/>
      <p:italic r:id="rId25"/>
      <p:bold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47" d="100"/>
          <a:sy n="47" d="100"/>
        </p:scale>
        <p:origin x="-456" y="-3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F12AF4-C0E6-4175-8848-E0A65C3CC68A}" type="datetimeFigureOut">
              <a:rPr lang="en-IN" smtClean="0"/>
              <a:t>20-03-2025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0F7E77-7722-43EB-ABFC-25E61370904A}" type="slidenum">
              <a:rPr lang="en-IN" smtClean="0"/>
              <a:t>‹#›</a:t>
            </a:fld>
            <a:endParaRPr lang="en-IN"/>
          </a:p>
        </p:txBody>
      </p:sp>
    </p:spTree>
    <p:extLst>
      <p:ext uri="{BB962C8B-B14F-4D97-AF65-F5344CB8AC3E}">
        <p14:creationId xmlns:p14="http://schemas.microsoft.com/office/powerpoint/2010/main" val="1838038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60F7E77-7722-43EB-ABFC-25E61370904A}" type="slidenum">
              <a:rPr lang="en-IN" smtClean="0"/>
              <a:t>1</a:t>
            </a:fld>
            <a:endParaRPr lang="en-IN"/>
          </a:p>
        </p:txBody>
      </p:sp>
    </p:spTree>
    <p:extLst>
      <p:ext uri="{BB962C8B-B14F-4D97-AF65-F5344CB8AC3E}">
        <p14:creationId xmlns:p14="http://schemas.microsoft.com/office/powerpoint/2010/main" val="3200179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smtClean="0"/>
              <a:t>Click to edit Master title style</a:t>
            </a:r>
            <a:endParaRPr lang="en-IN"/>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D8BD707-D9CF-40AE-B4C6-C98DA3205C09}" type="datetimeFigureOut">
              <a:rPr lang="en-US" smtClean="0"/>
              <a:pPr/>
              <a:t>3/20/2025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84849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D8BD707-D9CF-40AE-B4C6-C98DA3205C09}" type="datetimeFigureOut">
              <a:rPr lang="en-US" smtClean="0"/>
              <a:pPr/>
              <a:t>3/20/2025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0479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smtClean="0"/>
              <a:t>Click to edit Master title style</a:t>
            </a:r>
            <a:endParaRPr lang="en-IN"/>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626549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1257300" y="2738438"/>
            <a:ext cx="7772400" cy="652700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9258300" y="2738438"/>
            <a:ext cx="7772400" cy="652700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1D8BD707-D9CF-40AE-B4C6-C98DA3205C09}" type="datetimeFigureOut">
              <a:rPr lang="en-US" smtClean="0"/>
              <a:pPr/>
              <a:t>3/20/2025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00833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smtClean="0"/>
              <a:t>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smtClean="0"/>
              <a:t>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1D8BD707-D9CF-40AE-B4C6-C98DA3205C09}" type="datetimeFigureOut">
              <a:rPr lang="en-US" smtClean="0"/>
              <a:pPr/>
              <a:t>3/20/2025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35263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D8BD707-D9CF-40AE-B4C6-C98DA3205C09}" type="datetimeFigureOut">
              <a:rPr lang="en-US" smtClean="0"/>
              <a:pPr/>
              <a:t>3/20/2025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2452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78213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smtClean="0"/>
              <a:t>Click to edit Master title style</a:t>
            </a:r>
            <a:endParaRPr lang="en-IN"/>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23947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smtClean="0"/>
              <a:t>Click to edit Master title style</a:t>
            </a:r>
            <a:endParaRPr lang="en-IN"/>
          </a:p>
        </p:txBody>
      </p:sp>
      <p:sp>
        <p:nvSpPr>
          <p:cNvPr id="3" name="Picture Placeholder 2"/>
          <p:cNvSpPr>
            <a:spLocks noGrp="1"/>
          </p:cNvSpPr>
          <p:nvPr>
            <p:ph type="pic" idx="1"/>
          </p:nvPr>
        </p:nvSpPr>
        <p:spPr>
          <a:xfrm>
            <a:off x="7774782" y="1481138"/>
            <a:ext cx="9258300" cy="7310438"/>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endParaRPr lang="en-IN"/>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00492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D8BD707-D9CF-40AE-B4C6-C98DA3205C09}" type="datetimeFigureOut">
              <a:rPr lang="en-US" smtClean="0"/>
              <a:pPr/>
              <a:t>3/20/2025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35031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D8BD707-D9CF-40AE-B4C6-C98DA3205C09}" type="datetimeFigureOut">
              <a:rPr lang="en-US" smtClean="0"/>
              <a:pPr/>
              <a:t>3/20/2025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10673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1D8BD707-D9CF-40AE-B4C6-C98DA3205C09}" type="datetimeFigureOut">
              <a:rPr lang="en-US" smtClean="0"/>
              <a:pPr/>
              <a:t>3/20/2025</a:t>
            </a:fld>
            <a:endParaRPr lang="en-US"/>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8436255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gi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gif"/><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image" Target="../media/image10.gif"/><Relationship Id="rId1" Type="http://schemas.openxmlformats.org/officeDocument/2006/relationships/slideLayout" Target="../slideLayouts/slideLayout7.xml"/><Relationship Id="rId5" Type="http://schemas.openxmlformats.org/officeDocument/2006/relationships/image" Target="../media/image13.gif"/><Relationship Id="rId4" Type="http://schemas.openxmlformats.org/officeDocument/2006/relationships/image" Target="../media/image12.gif"/></Relationships>
</file>

<file path=ppt/slides/_rels/slide12.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image" Target="../media/image10.gif"/><Relationship Id="rId1" Type="http://schemas.openxmlformats.org/officeDocument/2006/relationships/slideLayout" Target="../slideLayouts/slideLayout7.xml"/><Relationship Id="rId5" Type="http://schemas.openxmlformats.org/officeDocument/2006/relationships/image" Target="../media/image13.gif"/><Relationship Id="rId4" Type="http://schemas.openxmlformats.org/officeDocument/2006/relationships/image" Target="../media/image12.gif"/></Relationships>
</file>

<file path=ppt/slides/_rels/slide13.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image" Target="../media/image10.gif"/><Relationship Id="rId1" Type="http://schemas.openxmlformats.org/officeDocument/2006/relationships/slideLayout" Target="../slideLayouts/slideLayout7.xml"/><Relationship Id="rId5" Type="http://schemas.openxmlformats.org/officeDocument/2006/relationships/image" Target="../media/image13.gif"/><Relationship Id="rId4" Type="http://schemas.openxmlformats.org/officeDocument/2006/relationships/image" Target="../media/image12.gi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11" name="TextBox 11"/>
          <p:cNvSpPr txBox="1"/>
          <p:nvPr/>
        </p:nvSpPr>
        <p:spPr>
          <a:xfrm>
            <a:off x="12217230" y="7922306"/>
            <a:ext cx="5912031" cy="2245241"/>
          </a:xfrm>
          <a:prstGeom prst="rect">
            <a:avLst/>
          </a:prstGeom>
        </p:spPr>
        <p:txBody>
          <a:bodyPr lIns="0" tIns="0" rIns="0" bIns="0" rtlCol="0" anchor="t">
            <a:spAutoFit/>
          </a:bodyPr>
          <a:lstStyle/>
          <a:p>
            <a:pPr algn="l">
              <a:lnSpc>
                <a:spcPts val="4346"/>
              </a:lnSpc>
            </a:pPr>
            <a:endParaRPr lang="en-US" sz="2400" b="1" dirty="0">
              <a:solidFill>
                <a:srgbClr val="2B2B2B"/>
              </a:solidFill>
              <a:latin typeface="Times New Roman" panose="02020603050405020304" pitchFamily="18" charset="0"/>
              <a:ea typeface="Agrandir Bold"/>
              <a:cs typeface="Times New Roman" panose="02020603050405020304" pitchFamily="18" charset="0"/>
              <a:sym typeface="Agrandir Bold"/>
            </a:endParaRPr>
          </a:p>
          <a:p>
            <a:pPr algn="l">
              <a:lnSpc>
                <a:spcPts val="4346"/>
              </a:lnSpc>
            </a:pPr>
            <a:endParaRPr lang="en-US" sz="2400" b="1" dirty="0">
              <a:solidFill>
                <a:srgbClr val="2B2B2B"/>
              </a:solidFill>
              <a:latin typeface="Times New Roman" panose="02020603050405020304" pitchFamily="18" charset="0"/>
              <a:ea typeface="Agrandir Bold"/>
              <a:cs typeface="Times New Roman" panose="02020603050405020304" pitchFamily="18" charset="0"/>
              <a:sym typeface="Agrandir Bold"/>
            </a:endParaRPr>
          </a:p>
          <a:p>
            <a:pPr algn="l">
              <a:lnSpc>
                <a:spcPts val="4346"/>
              </a:lnSpc>
            </a:pPr>
            <a:endParaRPr lang="en-US" sz="2400" b="1" dirty="0">
              <a:solidFill>
                <a:srgbClr val="2B2B2B"/>
              </a:solidFill>
              <a:latin typeface="Times New Roman" panose="02020603050405020304" pitchFamily="18" charset="0"/>
              <a:ea typeface="Agrandir Bold"/>
              <a:cs typeface="Times New Roman" panose="02020603050405020304" pitchFamily="18" charset="0"/>
              <a:sym typeface="Agrandir Bold"/>
            </a:endParaRPr>
          </a:p>
          <a:p>
            <a:pPr algn="l">
              <a:lnSpc>
                <a:spcPts val="4346"/>
              </a:lnSpc>
              <a:spcBef>
                <a:spcPct val="0"/>
              </a:spcBef>
            </a:pPr>
            <a:endParaRPr lang="en-US" sz="2800" dirty="0">
              <a:solidFill>
                <a:srgbClr val="2B2B2B"/>
              </a:solidFill>
              <a:latin typeface="Agrandir Bold"/>
              <a:ea typeface="Agrandir Bold"/>
              <a:cs typeface="Agrandir Bold"/>
              <a:sym typeface="Agrandir Bold"/>
            </a:endParaRPr>
          </a:p>
        </p:txBody>
      </p:sp>
      <p:pic>
        <p:nvPicPr>
          <p:cNvPr id="14" name="Picture 2"/>
          <p:cNvPicPr>
            <a:picLocks noChangeAspect="1"/>
          </p:cNvPicPr>
          <p:nvPr/>
        </p:nvPicPr>
        <p:blipFill>
          <a:blip r:embed="rId3">
            <a:alphaModFix amt="25000"/>
          </a:blip>
          <a:srcRect/>
          <a:stretch>
            <a:fillRect/>
          </a:stretch>
        </p:blipFill>
        <p:spPr>
          <a:xfrm rot="17998386">
            <a:off x="5609307" y="11886760"/>
            <a:ext cx="8863683" cy="9655416"/>
          </a:xfrm>
          <a:prstGeom prst="rect">
            <a:avLst/>
          </a:prstGeom>
        </p:spPr>
      </p:pic>
      <p:sp>
        <p:nvSpPr>
          <p:cNvPr id="15" name="Google Shape;233;p37"/>
          <p:cNvSpPr txBox="1">
            <a:spLocks/>
          </p:cNvSpPr>
          <p:nvPr/>
        </p:nvSpPr>
        <p:spPr>
          <a:xfrm>
            <a:off x="1902666" y="3686557"/>
            <a:ext cx="15950580" cy="1577258"/>
          </a:xfrm>
          <a:prstGeom prst="rect">
            <a:avLst/>
          </a:prstGeom>
        </p:spPr>
        <p:txBody>
          <a:bodyPr spcFirstLastPara="1" vert="horz" wrap="square" lIns="182850" tIns="182850" rIns="182850" bIns="182850" rtlCol="0" anchor="b" anchorCtr="0">
            <a:noAutofit/>
          </a:bodyPr>
          <a:lst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a:lstStyle>
          <a:p>
            <a:pPr algn="ctr">
              <a:spcBef>
                <a:spcPts val="0"/>
              </a:spcBef>
            </a:pPr>
            <a:r>
              <a:rPr lang="en-US" sz="5400" dirty="0">
                <a:solidFill>
                  <a:srgbClr val="FF0000"/>
                </a:solidFill>
                <a:latin typeface="Times New Roman" panose="02020603050405020304" pitchFamily="18" charset="0"/>
                <a:cs typeface="Times New Roman" panose="02020603050405020304" pitchFamily="18" charset="0"/>
              </a:rPr>
              <a:t>PROMPT </a:t>
            </a:r>
            <a:r>
              <a:rPr lang="en-US" sz="5400" dirty="0" smtClean="0">
                <a:solidFill>
                  <a:srgbClr val="FF0000"/>
                </a:solidFill>
                <a:latin typeface="Times New Roman" panose="02020603050405020304" pitchFamily="18" charset="0"/>
                <a:cs typeface="Times New Roman" panose="02020603050405020304" pitchFamily="18" charset="0"/>
              </a:rPr>
              <a:t>ENGINEERING IN </a:t>
            </a:r>
            <a:r>
              <a:rPr lang="en-US" sz="5400" dirty="0">
                <a:solidFill>
                  <a:srgbClr val="FF0000"/>
                </a:solidFill>
                <a:latin typeface="Times New Roman" panose="02020603050405020304" pitchFamily="18" charset="0"/>
                <a:cs typeface="Times New Roman" panose="02020603050405020304" pitchFamily="18" charset="0"/>
              </a:rPr>
              <a:t>HEALTHCARE</a:t>
            </a:r>
          </a:p>
        </p:txBody>
      </p:sp>
      <p:sp>
        <p:nvSpPr>
          <p:cNvPr id="16" name="Google Shape;55;p13">
            <a:extLst>
              <a:ext uri="{FF2B5EF4-FFF2-40B4-BE49-F238E27FC236}">
                <a16:creationId xmlns="" xmlns:a16="http://schemas.microsoft.com/office/drawing/2014/main" id="{79FC544F-BBF4-5A2B-6FD2-93B2A1FE5AF3}"/>
              </a:ext>
            </a:extLst>
          </p:cNvPr>
          <p:cNvSpPr txBox="1">
            <a:spLocks/>
          </p:cNvSpPr>
          <p:nvPr/>
        </p:nvSpPr>
        <p:spPr>
          <a:xfrm>
            <a:off x="4395081" y="5339550"/>
            <a:ext cx="10965750" cy="699176"/>
          </a:xfrm>
          <a:prstGeom prst="rect">
            <a:avLst/>
          </a:prstGeom>
          <a:noFill/>
          <a:ln>
            <a:noFill/>
          </a:ln>
        </p:spPr>
        <p:txBody>
          <a:bodyPr spcFirstLastPara="1" wrap="square" lIns="182850" tIns="182850" rIns="182850" bIns="182850" anchor="t" anchorCtr="0">
            <a:normAutofit fontScale="55000" lnSpcReduction="20000"/>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Figtree"/>
              <a:buNone/>
              <a:defRPr sz="1500" b="0" i="0" u="none" strike="noStrike" cap="none">
                <a:solidFill>
                  <a:schemeClr val="dk1"/>
                </a:solidFill>
                <a:latin typeface="Figtree"/>
                <a:ea typeface="Figtree"/>
                <a:cs typeface="Figtree"/>
                <a:sym typeface="Figtree"/>
              </a:defRPr>
            </a:lvl1pPr>
            <a:lvl2pPr marL="914400" marR="0" lvl="1" indent="-317500" algn="ctr" rtl="0">
              <a:lnSpc>
                <a:spcPct val="100000"/>
              </a:lnSpc>
              <a:spcBef>
                <a:spcPts val="0"/>
              </a:spcBef>
              <a:spcAft>
                <a:spcPts val="0"/>
              </a:spcAft>
              <a:buClr>
                <a:schemeClr val="dk1"/>
              </a:buClr>
              <a:buSzPts val="1800"/>
              <a:buFont typeface="Figtree"/>
              <a:buNone/>
              <a:defRPr sz="1800" b="0" i="0" u="none" strike="noStrike" cap="none">
                <a:solidFill>
                  <a:schemeClr val="dk1"/>
                </a:solidFill>
                <a:latin typeface="Figtree"/>
                <a:ea typeface="Figtree"/>
                <a:cs typeface="Figtree"/>
                <a:sym typeface="Figtree"/>
              </a:defRPr>
            </a:lvl2pPr>
            <a:lvl3pPr marL="1371600" marR="0" lvl="2" indent="-317500" algn="ctr" rtl="0">
              <a:lnSpc>
                <a:spcPct val="100000"/>
              </a:lnSpc>
              <a:spcBef>
                <a:spcPts val="0"/>
              </a:spcBef>
              <a:spcAft>
                <a:spcPts val="0"/>
              </a:spcAft>
              <a:buClr>
                <a:schemeClr val="dk1"/>
              </a:buClr>
              <a:buSzPts val="1800"/>
              <a:buFont typeface="Figtree"/>
              <a:buNone/>
              <a:defRPr sz="1800" b="0" i="0" u="none" strike="noStrike" cap="none">
                <a:solidFill>
                  <a:schemeClr val="dk1"/>
                </a:solidFill>
                <a:latin typeface="Figtree"/>
                <a:ea typeface="Figtree"/>
                <a:cs typeface="Figtree"/>
                <a:sym typeface="Figtree"/>
              </a:defRPr>
            </a:lvl3pPr>
            <a:lvl4pPr marL="1828800" marR="0" lvl="3" indent="-317500" algn="ctr" rtl="0">
              <a:lnSpc>
                <a:spcPct val="100000"/>
              </a:lnSpc>
              <a:spcBef>
                <a:spcPts val="0"/>
              </a:spcBef>
              <a:spcAft>
                <a:spcPts val="0"/>
              </a:spcAft>
              <a:buClr>
                <a:schemeClr val="dk1"/>
              </a:buClr>
              <a:buSzPts val="1800"/>
              <a:buFont typeface="Figtree"/>
              <a:buNone/>
              <a:defRPr sz="1800" b="0" i="0" u="none" strike="noStrike" cap="none">
                <a:solidFill>
                  <a:schemeClr val="dk1"/>
                </a:solidFill>
                <a:latin typeface="Figtree"/>
                <a:ea typeface="Figtree"/>
                <a:cs typeface="Figtree"/>
                <a:sym typeface="Figtree"/>
              </a:defRPr>
            </a:lvl4pPr>
            <a:lvl5pPr marL="2286000" marR="0" lvl="4" indent="-317500" algn="ctr" rtl="0">
              <a:lnSpc>
                <a:spcPct val="100000"/>
              </a:lnSpc>
              <a:spcBef>
                <a:spcPts val="0"/>
              </a:spcBef>
              <a:spcAft>
                <a:spcPts val="0"/>
              </a:spcAft>
              <a:buClr>
                <a:schemeClr val="dk1"/>
              </a:buClr>
              <a:buSzPts val="1800"/>
              <a:buFont typeface="Figtree"/>
              <a:buNone/>
              <a:defRPr sz="1800" b="0" i="0" u="none" strike="noStrike" cap="none">
                <a:solidFill>
                  <a:schemeClr val="dk1"/>
                </a:solidFill>
                <a:latin typeface="Figtree"/>
                <a:ea typeface="Figtree"/>
                <a:cs typeface="Figtree"/>
                <a:sym typeface="Figtree"/>
              </a:defRPr>
            </a:lvl5pPr>
            <a:lvl6pPr marL="2743200" marR="0" lvl="5" indent="-317500" algn="ctr" rtl="0">
              <a:lnSpc>
                <a:spcPct val="100000"/>
              </a:lnSpc>
              <a:spcBef>
                <a:spcPts val="0"/>
              </a:spcBef>
              <a:spcAft>
                <a:spcPts val="0"/>
              </a:spcAft>
              <a:buClr>
                <a:schemeClr val="dk1"/>
              </a:buClr>
              <a:buSzPts val="1800"/>
              <a:buFont typeface="Figtree"/>
              <a:buNone/>
              <a:defRPr sz="1800" b="0" i="0" u="none" strike="noStrike" cap="none">
                <a:solidFill>
                  <a:schemeClr val="dk1"/>
                </a:solidFill>
                <a:latin typeface="Figtree"/>
                <a:ea typeface="Figtree"/>
                <a:cs typeface="Figtree"/>
                <a:sym typeface="Figtree"/>
              </a:defRPr>
            </a:lvl6pPr>
            <a:lvl7pPr marL="3200400" marR="0" lvl="6" indent="-317500" algn="ctr" rtl="0">
              <a:lnSpc>
                <a:spcPct val="100000"/>
              </a:lnSpc>
              <a:spcBef>
                <a:spcPts val="0"/>
              </a:spcBef>
              <a:spcAft>
                <a:spcPts val="0"/>
              </a:spcAft>
              <a:buClr>
                <a:schemeClr val="dk1"/>
              </a:buClr>
              <a:buSzPts val="1800"/>
              <a:buFont typeface="Figtree"/>
              <a:buNone/>
              <a:defRPr sz="1800" b="0" i="0" u="none" strike="noStrike" cap="none">
                <a:solidFill>
                  <a:schemeClr val="dk1"/>
                </a:solidFill>
                <a:latin typeface="Figtree"/>
                <a:ea typeface="Figtree"/>
                <a:cs typeface="Figtree"/>
                <a:sym typeface="Figtree"/>
              </a:defRPr>
            </a:lvl7pPr>
            <a:lvl8pPr marL="3657600" marR="0" lvl="7" indent="-317500" algn="ctr" rtl="0">
              <a:lnSpc>
                <a:spcPct val="100000"/>
              </a:lnSpc>
              <a:spcBef>
                <a:spcPts val="0"/>
              </a:spcBef>
              <a:spcAft>
                <a:spcPts val="0"/>
              </a:spcAft>
              <a:buClr>
                <a:schemeClr val="dk1"/>
              </a:buClr>
              <a:buSzPts val="1800"/>
              <a:buFont typeface="Figtree"/>
              <a:buNone/>
              <a:defRPr sz="1800" b="0" i="0" u="none" strike="noStrike" cap="none">
                <a:solidFill>
                  <a:schemeClr val="dk1"/>
                </a:solidFill>
                <a:latin typeface="Figtree"/>
                <a:ea typeface="Figtree"/>
                <a:cs typeface="Figtree"/>
                <a:sym typeface="Figtree"/>
              </a:defRPr>
            </a:lvl8pPr>
            <a:lvl9pPr marL="4114800" marR="0" lvl="8" indent="-317500" algn="ctr" rtl="0">
              <a:lnSpc>
                <a:spcPct val="100000"/>
              </a:lnSpc>
              <a:spcBef>
                <a:spcPts val="0"/>
              </a:spcBef>
              <a:spcAft>
                <a:spcPts val="0"/>
              </a:spcAft>
              <a:buClr>
                <a:schemeClr val="dk1"/>
              </a:buClr>
              <a:buSzPts val="1800"/>
              <a:buFont typeface="Figtree"/>
              <a:buNone/>
              <a:defRPr sz="1800" b="0" i="0" u="none" strike="noStrike" cap="none">
                <a:solidFill>
                  <a:schemeClr val="dk1"/>
                </a:solidFill>
                <a:latin typeface="Figtree"/>
                <a:ea typeface="Figtree"/>
                <a:cs typeface="Figtree"/>
                <a:sym typeface="Figtree"/>
              </a:defRPr>
            </a:lvl9pPr>
          </a:lstStyle>
          <a:p>
            <a:pPr marL="0" indent="0" algn="ctr"/>
            <a:r>
              <a:rPr lang="en-IN" sz="4000" dirty="0">
                <a:solidFill>
                  <a:srgbClr val="0B5394"/>
                </a:solidFill>
              </a:rPr>
              <a:t>Presented by:</a:t>
            </a:r>
          </a:p>
        </p:txBody>
      </p:sp>
      <p:sp>
        <p:nvSpPr>
          <p:cNvPr id="17" name="Google Shape;56;p13">
            <a:extLst>
              <a:ext uri="{FF2B5EF4-FFF2-40B4-BE49-F238E27FC236}">
                <a16:creationId xmlns="" xmlns:a16="http://schemas.microsoft.com/office/drawing/2014/main" id="{23A099A1-FBA9-CED3-4D95-2B2763E6E35C}"/>
              </a:ext>
            </a:extLst>
          </p:cNvPr>
          <p:cNvSpPr txBox="1"/>
          <p:nvPr/>
        </p:nvSpPr>
        <p:spPr>
          <a:xfrm>
            <a:off x="1902666" y="2048415"/>
            <a:ext cx="15950580" cy="1600378"/>
          </a:xfrm>
          <a:prstGeom prst="rect">
            <a:avLst/>
          </a:prstGeom>
          <a:noFill/>
          <a:ln>
            <a:noFill/>
          </a:ln>
        </p:spPr>
        <p:txBody>
          <a:bodyPr spcFirstLastPara="1" wrap="square" lIns="182850" tIns="182850" rIns="182850" bIns="182850" anchor="t" anchorCtr="0">
            <a:spAutoFit/>
          </a:bodyPr>
          <a:lstStyle/>
          <a:p>
            <a:pPr algn="ctr"/>
            <a:r>
              <a:rPr lang="en-IN" sz="4000" dirty="0">
                <a:solidFill>
                  <a:srgbClr val="1C4587"/>
                </a:solidFill>
              </a:rPr>
              <a:t>Technical Seminar Presentation (21CS81)</a:t>
            </a:r>
          </a:p>
          <a:p>
            <a:pPr algn="ctr"/>
            <a:r>
              <a:rPr lang="en-IN" sz="4000" dirty="0">
                <a:solidFill>
                  <a:srgbClr val="1C4587"/>
                </a:solidFill>
              </a:rPr>
              <a:t>on</a:t>
            </a:r>
            <a:endParaRPr sz="4000" dirty="0">
              <a:solidFill>
                <a:srgbClr val="1C4587"/>
              </a:solidFill>
            </a:endParaRPr>
          </a:p>
        </p:txBody>
      </p:sp>
      <p:sp>
        <p:nvSpPr>
          <p:cNvPr id="18" name="Google Shape;57;p13">
            <a:extLst>
              <a:ext uri="{FF2B5EF4-FFF2-40B4-BE49-F238E27FC236}">
                <a16:creationId xmlns="" xmlns:a16="http://schemas.microsoft.com/office/drawing/2014/main" id="{37854D4F-E265-6A79-4C3F-2FA7F51E044E}"/>
              </a:ext>
            </a:extLst>
          </p:cNvPr>
          <p:cNvSpPr txBox="1"/>
          <p:nvPr/>
        </p:nvSpPr>
        <p:spPr>
          <a:xfrm>
            <a:off x="600370" y="6515100"/>
            <a:ext cx="8701403" cy="3323926"/>
          </a:xfrm>
          <a:prstGeom prst="rect">
            <a:avLst/>
          </a:prstGeom>
          <a:noFill/>
          <a:ln>
            <a:noFill/>
          </a:ln>
        </p:spPr>
        <p:txBody>
          <a:bodyPr spcFirstLastPara="1" wrap="square" lIns="182850" tIns="182850" rIns="182850" bIns="182850" anchor="t" anchorCtr="0">
            <a:spAutoFit/>
          </a:bodyPr>
          <a:lstStyle/>
          <a:p>
            <a:endParaRPr lang="en-US" sz="2800" u="sng" dirty="0" smtClean="0"/>
          </a:p>
          <a:p>
            <a:r>
              <a:rPr lang="en-US" sz="3600" u="sng" dirty="0" smtClean="0"/>
              <a:t>Seminar guide </a:t>
            </a:r>
          </a:p>
          <a:p>
            <a:r>
              <a:rPr lang="en-US" sz="2800" dirty="0" smtClean="0">
                <a:latin typeface="Times New Roman" panose="02020603050405020304" pitchFamily="18" charset="0"/>
                <a:cs typeface="Times New Roman" panose="02020603050405020304" pitchFamily="18" charset="0"/>
              </a:rPr>
              <a:t> </a:t>
            </a:r>
          </a:p>
          <a:p>
            <a:r>
              <a:rPr lang="en-US" sz="2800" dirty="0" smtClean="0">
                <a:latin typeface="Times New Roman" panose="02020603050405020304" pitchFamily="18" charset="0"/>
                <a:cs typeface="Times New Roman" panose="02020603050405020304" pitchFamily="18" charset="0"/>
              </a:rPr>
              <a:t> </a:t>
            </a:r>
            <a:r>
              <a:rPr lang="en-US" sz="3200" dirty="0" smtClean="0">
                <a:cs typeface="Times New Roman" panose="02020603050405020304" pitchFamily="18" charset="0"/>
              </a:rPr>
              <a:t>Prof. Raghu B R </a:t>
            </a:r>
            <a:endParaRPr lang="en-IN" sz="3200" dirty="0" smtClean="0">
              <a:cs typeface="Times New Roman" panose="02020603050405020304" pitchFamily="18" charset="0"/>
            </a:endParaRPr>
          </a:p>
          <a:p>
            <a:r>
              <a:rPr lang="en-US" sz="3200" dirty="0" smtClean="0">
                <a:cs typeface="Times New Roman" panose="02020603050405020304" pitchFamily="18" charset="0"/>
              </a:rPr>
              <a:t>Assistant Professor</a:t>
            </a:r>
            <a:endParaRPr lang="en-IN" sz="3200" dirty="0" smtClean="0">
              <a:cs typeface="Times New Roman" panose="02020603050405020304" pitchFamily="18" charset="0"/>
            </a:endParaRPr>
          </a:p>
          <a:p>
            <a:r>
              <a:rPr lang="en-IN" sz="3200" dirty="0" smtClean="0">
                <a:cs typeface="Times New Roman" panose="02020603050405020304" pitchFamily="18" charset="0"/>
              </a:rPr>
              <a:t> </a:t>
            </a:r>
            <a:r>
              <a:rPr lang="en-US" sz="3600" dirty="0" smtClean="0"/>
              <a:t>Dept. of CS&amp;E</a:t>
            </a:r>
            <a:endParaRPr lang="en" sz="3600" dirty="0">
              <a:solidFill>
                <a:schemeClr val="dk1"/>
              </a:solidFill>
            </a:endParaRPr>
          </a:p>
        </p:txBody>
      </p:sp>
      <p:sp>
        <p:nvSpPr>
          <p:cNvPr id="19" name="Google Shape;58;p13">
            <a:extLst>
              <a:ext uri="{FF2B5EF4-FFF2-40B4-BE49-F238E27FC236}">
                <a16:creationId xmlns="" xmlns:a16="http://schemas.microsoft.com/office/drawing/2014/main" id="{57FE6AD7-D47C-3E26-05B7-0EDAB81124BA}"/>
              </a:ext>
            </a:extLst>
          </p:cNvPr>
          <p:cNvSpPr txBox="1"/>
          <p:nvPr/>
        </p:nvSpPr>
        <p:spPr>
          <a:xfrm>
            <a:off x="6629400" y="6885460"/>
            <a:ext cx="10640012" cy="3139260"/>
          </a:xfrm>
          <a:prstGeom prst="rect">
            <a:avLst/>
          </a:prstGeom>
          <a:noFill/>
          <a:ln>
            <a:noFill/>
          </a:ln>
        </p:spPr>
        <p:txBody>
          <a:bodyPr spcFirstLastPara="1" wrap="square" lIns="182850" tIns="182850" rIns="182850" bIns="182850" anchor="t" anchorCtr="0">
            <a:spAutoFit/>
          </a:bodyPr>
          <a:lstStyle/>
          <a:p>
            <a:pPr algn="ctr"/>
            <a:r>
              <a:rPr lang="en-US" sz="3600" u="sng" dirty="0"/>
              <a:t>Seminar Co-</a:t>
            </a:r>
            <a:r>
              <a:rPr lang="en-US" sz="3600" u="sng" dirty="0" err="1"/>
              <a:t>ordinators</a:t>
            </a:r>
            <a:r>
              <a:rPr lang="en-US" sz="3600" u="sng" dirty="0"/>
              <a:t>:</a:t>
            </a:r>
          </a:p>
          <a:p>
            <a:pPr algn="ctr"/>
            <a:r>
              <a:rPr lang="en-US" sz="3600" dirty="0"/>
              <a:t>       </a:t>
            </a:r>
            <a:r>
              <a:rPr lang="en-US" sz="3600" dirty="0" smtClean="0"/>
              <a:t> </a:t>
            </a:r>
            <a:r>
              <a:rPr lang="en-US" sz="3600" dirty="0"/>
              <a:t>Prof. Rahima B                      </a:t>
            </a:r>
            <a:r>
              <a:rPr lang="en-US" sz="3600" dirty="0" err="1"/>
              <a:t>Prof.Madhu</a:t>
            </a:r>
            <a:r>
              <a:rPr lang="en-US" sz="3600" dirty="0"/>
              <a:t> N Hiremath</a:t>
            </a:r>
          </a:p>
          <a:p>
            <a:pPr algn="ctr"/>
            <a:r>
              <a:rPr lang="en-US" sz="3600" dirty="0"/>
              <a:t>Assistant Professor                    Assistant Professor</a:t>
            </a:r>
          </a:p>
          <a:p>
            <a:pPr algn="ctr"/>
            <a:r>
              <a:rPr lang="en-US" sz="3600" dirty="0"/>
              <a:t>Dept. of CS&amp;E                          Dept. of CS&amp;E</a:t>
            </a:r>
            <a:endParaRPr lang="en-US" sz="3600" dirty="0">
              <a:solidFill>
                <a:schemeClr val="dk1"/>
              </a:solidFill>
            </a:endParaRPr>
          </a:p>
          <a:p>
            <a:pPr algn="ctr"/>
            <a:endParaRPr sz="3600" dirty="0">
              <a:solidFill>
                <a:schemeClr val="dk1"/>
              </a:solidFill>
            </a:endParaRPr>
          </a:p>
        </p:txBody>
      </p:sp>
      <p:pic>
        <p:nvPicPr>
          <p:cNvPr id="20" name="Google Shape;59;p13">
            <a:extLst>
              <a:ext uri="{FF2B5EF4-FFF2-40B4-BE49-F238E27FC236}">
                <a16:creationId xmlns="" xmlns:a16="http://schemas.microsoft.com/office/drawing/2014/main" id="{F54237D9-8D51-6E68-272A-86EA51CCC4C3}"/>
              </a:ext>
            </a:extLst>
          </p:cNvPr>
          <p:cNvPicPr preferRelativeResize="0"/>
          <p:nvPr/>
        </p:nvPicPr>
        <p:blipFill>
          <a:blip r:embed="rId4">
            <a:alphaModFix/>
          </a:blip>
          <a:stretch>
            <a:fillRect/>
          </a:stretch>
        </p:blipFill>
        <p:spPr>
          <a:xfrm>
            <a:off x="742525" y="349264"/>
            <a:ext cx="1563354" cy="1577256"/>
          </a:xfrm>
          <a:prstGeom prst="rect">
            <a:avLst/>
          </a:prstGeom>
          <a:noFill/>
          <a:ln>
            <a:noFill/>
          </a:ln>
        </p:spPr>
      </p:pic>
      <p:pic>
        <p:nvPicPr>
          <p:cNvPr id="21" name="Google Shape;60;p13">
            <a:extLst>
              <a:ext uri="{FF2B5EF4-FFF2-40B4-BE49-F238E27FC236}">
                <a16:creationId xmlns="" xmlns:a16="http://schemas.microsoft.com/office/drawing/2014/main" id="{6D5D6639-924D-ADEC-A698-E96EBAF485A7}"/>
              </a:ext>
            </a:extLst>
          </p:cNvPr>
          <p:cNvPicPr preferRelativeResize="0"/>
          <p:nvPr/>
        </p:nvPicPr>
        <p:blipFill>
          <a:blip r:embed="rId5">
            <a:alphaModFix/>
          </a:blip>
          <a:stretch>
            <a:fillRect/>
          </a:stretch>
        </p:blipFill>
        <p:spPr>
          <a:xfrm>
            <a:off x="16628598" y="287762"/>
            <a:ext cx="1354200" cy="1354200"/>
          </a:xfrm>
          <a:prstGeom prst="rect">
            <a:avLst/>
          </a:prstGeom>
          <a:noFill/>
          <a:ln>
            <a:noFill/>
          </a:ln>
        </p:spPr>
      </p:pic>
      <p:sp>
        <p:nvSpPr>
          <p:cNvPr id="22" name="Google Shape;61;p13">
            <a:extLst>
              <a:ext uri="{FF2B5EF4-FFF2-40B4-BE49-F238E27FC236}">
                <a16:creationId xmlns="" xmlns:a16="http://schemas.microsoft.com/office/drawing/2014/main" id="{B0A8FF39-744D-CE7F-AE88-B57B5B830D65}"/>
              </a:ext>
            </a:extLst>
          </p:cNvPr>
          <p:cNvSpPr txBox="1"/>
          <p:nvPr/>
        </p:nvSpPr>
        <p:spPr>
          <a:xfrm>
            <a:off x="2667000" y="349263"/>
            <a:ext cx="13269548" cy="1908154"/>
          </a:xfrm>
          <a:prstGeom prst="rect">
            <a:avLst/>
          </a:prstGeom>
          <a:noFill/>
          <a:ln>
            <a:noFill/>
          </a:ln>
        </p:spPr>
        <p:txBody>
          <a:bodyPr spcFirstLastPara="1" wrap="square" lIns="182850" tIns="182850" rIns="182850" bIns="182850" anchor="t" anchorCtr="0">
            <a:spAutoFit/>
          </a:bodyPr>
          <a:lstStyle/>
          <a:p>
            <a:pPr algn="ctr"/>
            <a:r>
              <a:rPr lang="en" sz="3600" dirty="0">
                <a:solidFill>
                  <a:schemeClr val="dk1"/>
                </a:solidFill>
              </a:rPr>
              <a:t>Bapuji Institute of Engineering and Technology, Davanagere- 577004</a:t>
            </a:r>
            <a:r>
              <a:rPr lang="en" sz="3200" dirty="0">
                <a:solidFill>
                  <a:schemeClr val="dk2"/>
                </a:solidFill>
              </a:rPr>
              <a:t> </a:t>
            </a:r>
          </a:p>
          <a:p>
            <a:pPr algn="ctr"/>
            <a:r>
              <a:rPr lang="en-US" sz="3200" dirty="0">
                <a:solidFill>
                  <a:schemeClr val="dk1"/>
                </a:solidFill>
              </a:rPr>
              <a:t>Department of Computer Science and Engineering,</a:t>
            </a:r>
          </a:p>
          <a:p>
            <a:pPr algn="ctr"/>
            <a:r>
              <a:rPr lang="en-IN" sz="3200" dirty="0">
                <a:solidFill>
                  <a:schemeClr val="dk2"/>
                </a:solidFill>
              </a:rPr>
              <a:t> </a:t>
            </a:r>
            <a:endParaRPr sz="3200" dirty="0">
              <a:solidFill>
                <a:schemeClr val="dk2"/>
              </a:solidFill>
            </a:endParaRPr>
          </a:p>
        </p:txBody>
      </p:sp>
      <p:sp>
        <p:nvSpPr>
          <p:cNvPr id="23" name="Google Shape;62;p13">
            <a:extLst>
              <a:ext uri="{FF2B5EF4-FFF2-40B4-BE49-F238E27FC236}">
                <a16:creationId xmlns="" xmlns:a16="http://schemas.microsoft.com/office/drawing/2014/main" id="{27AEA090-DF10-0281-5D90-10BC3E92FC69}"/>
              </a:ext>
            </a:extLst>
          </p:cNvPr>
          <p:cNvSpPr txBox="1"/>
          <p:nvPr/>
        </p:nvSpPr>
        <p:spPr>
          <a:xfrm>
            <a:off x="3429000" y="6110549"/>
            <a:ext cx="13199598" cy="1354156"/>
          </a:xfrm>
          <a:prstGeom prst="rect">
            <a:avLst/>
          </a:prstGeom>
          <a:noFill/>
          <a:ln>
            <a:noFill/>
          </a:ln>
        </p:spPr>
        <p:txBody>
          <a:bodyPr spcFirstLastPara="1" wrap="square" lIns="182850" tIns="182850" rIns="182850" bIns="182850" anchor="t" anchorCtr="0">
            <a:spAutoFit/>
          </a:bodyPr>
          <a:lstStyle/>
          <a:p>
            <a:r>
              <a:rPr lang="en-IN" sz="3200" b="1" dirty="0" err="1" smtClean="0"/>
              <a:t>Anushree</a:t>
            </a:r>
            <a:r>
              <a:rPr lang="en-IN" sz="3200" b="1" dirty="0" smtClean="0"/>
              <a:t> B </a:t>
            </a:r>
            <a:r>
              <a:rPr lang="en-IN" sz="3200" b="1" dirty="0" err="1" smtClean="0"/>
              <a:t>Kuppast</a:t>
            </a:r>
            <a:r>
              <a:rPr lang="en-IN" sz="3200" b="1" dirty="0" smtClean="0"/>
              <a:t>                                        </a:t>
            </a:r>
            <a:r>
              <a:rPr lang="en-IN" sz="3200" b="1" dirty="0"/>
              <a:t>	</a:t>
            </a:r>
            <a:r>
              <a:rPr lang="en-IN" sz="3200" b="1" dirty="0" smtClean="0"/>
              <a:t>                4BD21CS020</a:t>
            </a:r>
            <a:endParaRPr lang="en-IN" sz="3200" b="1" dirty="0"/>
          </a:p>
          <a:p>
            <a:r>
              <a:rPr lang="en-IN" sz="3200" b="1" dirty="0"/>
              <a:t>         </a:t>
            </a:r>
            <a:endParaRPr lang="en-IN" sz="3200" b="1" dirty="0">
              <a:solidFill>
                <a:schemeClr val="dk1"/>
              </a:solidFill>
            </a:endParaRPr>
          </a:p>
        </p:txBody>
      </p:sp>
    </p:spTree>
    <p:extLst>
      <p:ext uri="{BB962C8B-B14F-4D97-AF65-F5344CB8AC3E}">
        <p14:creationId xmlns:p14="http://schemas.microsoft.com/office/powerpoint/2010/main" val="25753465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25000"/>
          </a:blip>
          <a:srcRect/>
          <a:stretch>
            <a:fillRect/>
          </a:stretch>
        </p:blipFill>
        <p:spPr>
          <a:xfrm rot="3203220">
            <a:off x="10055853" y="-265970"/>
            <a:ext cx="11814494" cy="12461864"/>
          </a:xfrm>
          <a:prstGeom prst="rect">
            <a:avLst/>
          </a:prstGeom>
        </p:spPr>
      </p:pic>
      <p:sp>
        <p:nvSpPr>
          <p:cNvPr id="5" name="TextBox 5"/>
          <p:cNvSpPr txBox="1"/>
          <p:nvPr/>
        </p:nvSpPr>
        <p:spPr>
          <a:xfrm>
            <a:off x="1219200" y="118208"/>
            <a:ext cx="10534650" cy="9925794"/>
          </a:xfrm>
          <a:prstGeom prst="rect">
            <a:avLst/>
          </a:prstGeom>
        </p:spPr>
        <p:txBody>
          <a:bodyPr wrap="square" lIns="0" tIns="0" rIns="0" bIns="0" rtlCol="0" anchor="t">
            <a:spAutoFit/>
          </a:bodyPr>
          <a:lstStyle/>
          <a:p>
            <a:pPr algn="ctr">
              <a:lnSpc>
                <a:spcPts val="8620"/>
              </a:lnSpc>
            </a:pPr>
            <a:r>
              <a:rPr lang="en-US" sz="6157" dirty="0">
                <a:solidFill>
                  <a:srgbClr val="FF3131"/>
                </a:solidFill>
                <a:latin typeface="Agrandir Bold"/>
                <a:ea typeface="Agrandir Bold"/>
                <a:cs typeface="Agrandir Bold"/>
                <a:sym typeface="Agrandir Bold"/>
              </a:rPr>
              <a:t>                          </a:t>
            </a:r>
            <a:r>
              <a:rPr lang="en-US" sz="6157" dirty="0">
                <a:solidFill>
                  <a:schemeClr val="accent1">
                    <a:lumMod val="50000"/>
                  </a:schemeClr>
                </a:solidFill>
                <a:latin typeface="Agrandir Bold"/>
                <a:ea typeface="Agrandir Bold"/>
                <a:cs typeface="Agrandir Bold"/>
                <a:sym typeface="Agrandir Bold"/>
              </a:rPr>
              <a:t>CONTENTS</a:t>
            </a:r>
          </a:p>
          <a:p>
            <a:pPr algn="l">
              <a:lnSpc>
                <a:spcPts val="4669"/>
              </a:lnSpc>
            </a:pPr>
            <a:endParaRPr lang="en-US" sz="6157" dirty="0">
              <a:solidFill>
                <a:srgbClr val="FF3131"/>
              </a:solidFill>
              <a:latin typeface="Agrandir Bold"/>
              <a:ea typeface="Agrandir Bold"/>
              <a:cs typeface="Agrandir Bold"/>
              <a:sym typeface="Agrandir Bold"/>
            </a:endParaRPr>
          </a:p>
          <a:p>
            <a:pPr algn="just">
              <a:lnSpc>
                <a:spcPts val="6565"/>
              </a:lnSpc>
            </a:pPr>
            <a:r>
              <a:rPr lang="en-US" sz="4689" dirty="0">
                <a:latin typeface="Times New Roman" panose="02020603050405020304" pitchFamily="18" charset="0"/>
                <a:ea typeface="Times New Roman Bold"/>
                <a:cs typeface="Times New Roman" panose="02020603050405020304" pitchFamily="18" charset="0"/>
                <a:sym typeface="Times New Roman Bold"/>
              </a:rPr>
              <a:t>1.Introduction</a:t>
            </a:r>
          </a:p>
          <a:p>
            <a:pPr algn="just">
              <a:lnSpc>
                <a:spcPts val="6565"/>
              </a:lnSpc>
            </a:pPr>
            <a:r>
              <a:rPr lang="en-US" sz="4689" dirty="0" smtClean="0">
                <a:solidFill>
                  <a:srgbClr val="2B2B2B"/>
                </a:solidFill>
                <a:latin typeface="Times New Roman" panose="02020603050405020304" pitchFamily="18" charset="0"/>
                <a:ea typeface="Times New Roman Bold"/>
                <a:cs typeface="Times New Roman" panose="02020603050405020304" pitchFamily="18" charset="0"/>
                <a:sym typeface="Times New Roman Bold"/>
              </a:rPr>
              <a:t>2.</a:t>
            </a:r>
            <a:r>
              <a:rPr lang="en-IN" sz="4800" dirty="0" smtClean="0">
                <a:latin typeface="Times New Roman" panose="02020603050405020304" pitchFamily="18" charset="0"/>
                <a:cs typeface="Times New Roman" panose="02020603050405020304" pitchFamily="18" charset="0"/>
              </a:rPr>
              <a:t>Evolution </a:t>
            </a:r>
            <a:r>
              <a:rPr lang="en-IN" sz="4800" dirty="0">
                <a:latin typeface="Times New Roman" panose="02020603050405020304" pitchFamily="18" charset="0"/>
                <a:cs typeface="Times New Roman" panose="02020603050405020304" pitchFamily="18" charset="0"/>
              </a:rPr>
              <a:t>of </a:t>
            </a:r>
            <a:r>
              <a:rPr lang="en-IN" sz="4800" dirty="0" smtClean="0">
                <a:latin typeface="Times New Roman" panose="02020603050405020304" pitchFamily="18" charset="0"/>
                <a:cs typeface="Times New Roman" panose="02020603050405020304" pitchFamily="18" charset="0"/>
              </a:rPr>
              <a:t>AI in Healthcare</a:t>
            </a:r>
            <a:endParaRPr lang="en-US" sz="4689" dirty="0">
              <a:solidFill>
                <a:srgbClr val="2B2B2B"/>
              </a:solidFill>
              <a:latin typeface="Times New Roman" panose="02020603050405020304" pitchFamily="18" charset="0"/>
              <a:ea typeface="Times New Roman Bold"/>
              <a:cs typeface="Times New Roman" panose="02020603050405020304" pitchFamily="18" charset="0"/>
              <a:sym typeface="Times New Roman Bold"/>
            </a:endParaRPr>
          </a:p>
          <a:p>
            <a:pPr lvl="0" algn="just">
              <a:lnSpc>
                <a:spcPts val="6565"/>
              </a:lnSpc>
            </a:pPr>
            <a:r>
              <a:rPr lang="en-US" sz="4689" dirty="0" smtClean="0">
                <a:solidFill>
                  <a:srgbClr val="2B2B2B"/>
                </a:solidFill>
                <a:latin typeface="Times New Roman" panose="02020603050405020304" pitchFamily="18" charset="0"/>
                <a:ea typeface="Times New Roman Bold"/>
                <a:cs typeface="Times New Roman" panose="02020603050405020304" pitchFamily="18" charset="0"/>
                <a:sym typeface="Times New Roman Bold"/>
              </a:rPr>
              <a:t>3.</a:t>
            </a:r>
            <a:r>
              <a:rPr lang="en-IN" sz="4800" dirty="0">
                <a:latin typeface="Times New Roman" panose="02020603050405020304" pitchFamily="18" charset="0"/>
                <a:cs typeface="Times New Roman" panose="02020603050405020304" pitchFamily="18" charset="0"/>
              </a:rPr>
              <a:t> Objectives</a:t>
            </a:r>
          </a:p>
          <a:p>
            <a:pPr lvl="0" algn="just">
              <a:lnSpc>
                <a:spcPts val="6565"/>
              </a:lnSpc>
            </a:pPr>
            <a:r>
              <a:rPr lang="en-US" sz="4689" dirty="0" smtClean="0">
                <a:solidFill>
                  <a:srgbClr val="2B2B2B"/>
                </a:solidFill>
                <a:latin typeface="Times New Roman" panose="02020603050405020304" pitchFamily="18" charset="0"/>
                <a:ea typeface="Times New Roman Bold"/>
                <a:cs typeface="Times New Roman" panose="02020603050405020304" pitchFamily="18" charset="0"/>
                <a:sym typeface="Times New Roman Bold"/>
              </a:rPr>
              <a:t>4.</a:t>
            </a:r>
            <a:r>
              <a:rPr lang="en-IN" sz="4800" dirty="0">
                <a:latin typeface="Times New Roman" panose="02020603050405020304" pitchFamily="18" charset="0"/>
                <a:cs typeface="Times New Roman" panose="02020603050405020304" pitchFamily="18" charset="0"/>
              </a:rPr>
              <a:t> Methodology</a:t>
            </a:r>
          </a:p>
          <a:p>
            <a:pPr lvl="0" algn="just">
              <a:lnSpc>
                <a:spcPts val="6565"/>
              </a:lnSpc>
            </a:pPr>
            <a:r>
              <a:rPr lang="en-US" sz="4689" dirty="0" smtClean="0">
                <a:solidFill>
                  <a:srgbClr val="2B2B2B"/>
                </a:solidFill>
                <a:latin typeface="Times New Roman" panose="02020603050405020304" pitchFamily="18" charset="0"/>
                <a:ea typeface="Times New Roman Bold"/>
                <a:cs typeface="Times New Roman" panose="02020603050405020304" pitchFamily="18" charset="0"/>
                <a:sym typeface="Times New Roman Bold"/>
              </a:rPr>
              <a:t>5.</a:t>
            </a:r>
            <a:r>
              <a:rPr lang="en-IN" sz="4800" dirty="0">
                <a:latin typeface="Times New Roman" panose="02020603050405020304" pitchFamily="18" charset="0"/>
                <a:cs typeface="Times New Roman" panose="02020603050405020304" pitchFamily="18" charset="0"/>
              </a:rPr>
              <a:t> Snapshots</a:t>
            </a:r>
          </a:p>
          <a:p>
            <a:pPr lvl="0" algn="just">
              <a:lnSpc>
                <a:spcPts val="6565"/>
              </a:lnSpc>
            </a:pPr>
            <a:r>
              <a:rPr lang="en-US" sz="4689" dirty="0" smtClean="0">
                <a:solidFill>
                  <a:srgbClr val="2B2B2B"/>
                </a:solidFill>
                <a:latin typeface="Times New Roman" panose="02020603050405020304" pitchFamily="18" charset="0"/>
                <a:ea typeface="Times New Roman Bold"/>
                <a:cs typeface="Times New Roman" panose="02020603050405020304" pitchFamily="18" charset="0"/>
                <a:sym typeface="Times New Roman Bold"/>
              </a:rPr>
              <a:t>6.</a:t>
            </a:r>
            <a:r>
              <a:rPr lang="en-IN" sz="4800" dirty="0">
                <a:latin typeface="Times New Roman" panose="02020603050405020304" pitchFamily="18" charset="0"/>
                <a:cs typeface="Times New Roman" panose="02020603050405020304" pitchFamily="18" charset="0"/>
              </a:rPr>
              <a:t> Advantages, disadvantages</a:t>
            </a:r>
          </a:p>
          <a:p>
            <a:pPr algn="just">
              <a:lnSpc>
                <a:spcPts val="6565"/>
              </a:lnSpc>
            </a:pPr>
            <a:r>
              <a:rPr lang="en-US" sz="4689" dirty="0" smtClean="0">
                <a:solidFill>
                  <a:srgbClr val="2B2B2B"/>
                </a:solidFill>
                <a:latin typeface="Times New Roman" panose="02020603050405020304" pitchFamily="18" charset="0"/>
                <a:ea typeface="Times New Roman Bold"/>
                <a:cs typeface="Times New Roman" panose="02020603050405020304" pitchFamily="18" charset="0"/>
                <a:sym typeface="Times New Roman Bold"/>
              </a:rPr>
              <a:t>7.</a:t>
            </a:r>
            <a:r>
              <a:rPr lang="en-IN" sz="4800" dirty="0">
                <a:latin typeface="Times New Roman" panose="02020603050405020304" pitchFamily="18" charset="0"/>
                <a:cs typeface="Times New Roman" panose="02020603050405020304" pitchFamily="18" charset="0"/>
              </a:rPr>
              <a:t> </a:t>
            </a:r>
            <a:r>
              <a:rPr lang="en-IN" sz="4800" dirty="0" smtClean="0">
                <a:latin typeface="Times New Roman" panose="02020603050405020304" pitchFamily="18" charset="0"/>
                <a:cs typeface="Times New Roman" panose="02020603050405020304" pitchFamily="18" charset="0"/>
              </a:rPr>
              <a:t>Applications</a:t>
            </a:r>
          </a:p>
          <a:p>
            <a:pPr algn="just">
              <a:lnSpc>
                <a:spcPts val="6565"/>
              </a:lnSpc>
            </a:pPr>
            <a:r>
              <a:rPr lang="en-US" sz="4800" dirty="0" smtClean="0">
                <a:solidFill>
                  <a:srgbClr val="2B2B2B"/>
                </a:solidFill>
                <a:latin typeface="Times New Roman" panose="02020603050405020304" pitchFamily="18" charset="0"/>
                <a:ea typeface="Times New Roman Bold"/>
                <a:cs typeface="Times New Roman" panose="02020603050405020304" pitchFamily="18" charset="0"/>
                <a:sym typeface="Times New Roman Bold"/>
              </a:rPr>
              <a:t>8.</a:t>
            </a:r>
            <a:r>
              <a:rPr lang="en-IN" sz="4800" dirty="0">
                <a:latin typeface="Times New Roman" panose="02020603050405020304" pitchFamily="18" charset="0"/>
                <a:cs typeface="Times New Roman" panose="02020603050405020304" pitchFamily="18" charset="0"/>
              </a:rPr>
              <a:t> Conclusion</a:t>
            </a:r>
          </a:p>
          <a:p>
            <a:pPr>
              <a:lnSpc>
                <a:spcPts val="6565"/>
              </a:lnSpc>
            </a:pPr>
            <a:endParaRPr lang="en-US" sz="4689" dirty="0">
              <a:solidFill>
                <a:srgbClr val="2B2B2B"/>
              </a:solidFill>
              <a:latin typeface="Times New Roman Bold"/>
              <a:ea typeface="Times New Roman Bold"/>
              <a:cs typeface="Times New Roman Bold"/>
              <a:sym typeface="Times New Roman Bold"/>
            </a:endParaRPr>
          </a:p>
          <a:p>
            <a:pPr marL="0" lvl="0" indent="0" algn="l">
              <a:lnSpc>
                <a:spcPts val="4669"/>
              </a:lnSpc>
            </a:pPr>
            <a:endParaRPr lang="en-US" sz="4689" dirty="0">
              <a:solidFill>
                <a:srgbClr val="2B2B2B"/>
              </a:solidFill>
              <a:latin typeface="Times New Roman Bold"/>
              <a:ea typeface="Times New Roman Bold"/>
              <a:cs typeface="Times New Roman Bold"/>
              <a:sym typeface="Times New Roman Bold"/>
            </a:endParaRPr>
          </a:p>
        </p:txBody>
      </p:sp>
      <p:pic>
        <p:nvPicPr>
          <p:cNvPr id="3" name="Picture 2"/>
          <p:cNvPicPr>
            <a:picLocks noChangeAspect="1"/>
          </p:cNvPicPr>
          <p:nvPr/>
        </p:nvPicPr>
        <p:blipFill>
          <a:blip r:embed="rId3"/>
          <a:stretch>
            <a:fillRect/>
          </a:stretch>
        </p:blipFill>
        <p:spPr>
          <a:xfrm>
            <a:off x="12963410" y="4533900"/>
            <a:ext cx="5310076" cy="4359018"/>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25000"/>
          </a:blip>
          <a:srcRect/>
          <a:stretch>
            <a:fillRect/>
          </a:stretch>
        </p:blipFill>
        <p:spPr>
          <a:xfrm rot="3203220">
            <a:off x="10055853" y="-265970"/>
            <a:ext cx="11814494" cy="12461864"/>
          </a:xfrm>
          <a:prstGeom prst="rect">
            <a:avLst/>
          </a:prstGeom>
        </p:spPr>
      </p:pic>
      <p:grpSp>
        <p:nvGrpSpPr>
          <p:cNvPr id="4" name="Group 4"/>
          <p:cNvGrpSpPr/>
          <p:nvPr/>
        </p:nvGrpSpPr>
        <p:grpSpPr>
          <a:xfrm>
            <a:off x="622635" y="567747"/>
            <a:ext cx="16636665" cy="3630654"/>
            <a:chOff x="0" y="-190500"/>
            <a:chExt cx="22182220" cy="4840872"/>
          </a:xfrm>
        </p:grpSpPr>
        <p:sp>
          <p:nvSpPr>
            <p:cNvPr id="5" name="TextBox 5"/>
            <p:cNvSpPr txBox="1"/>
            <p:nvPr/>
          </p:nvSpPr>
          <p:spPr>
            <a:xfrm>
              <a:off x="0" y="-190500"/>
              <a:ext cx="22182220" cy="3009371"/>
            </a:xfrm>
            <a:prstGeom prst="rect">
              <a:avLst/>
            </a:prstGeom>
          </p:spPr>
          <p:txBody>
            <a:bodyPr lIns="0" tIns="0" rIns="0" bIns="0" rtlCol="0" anchor="t">
              <a:spAutoFit/>
            </a:bodyPr>
            <a:lstStyle/>
            <a:p>
              <a:pPr algn="l">
                <a:lnSpc>
                  <a:spcPts val="7968"/>
                </a:lnSpc>
              </a:pPr>
              <a:r>
                <a:rPr lang="en-US" sz="6640" dirty="0" smtClean="0">
                  <a:solidFill>
                    <a:schemeClr val="accent1">
                      <a:lumMod val="75000"/>
                    </a:schemeClr>
                  </a:solidFill>
                  <a:latin typeface="Agrandir Bold"/>
                  <a:ea typeface="Agrandir Bold"/>
                  <a:cs typeface="Agrandir Bold"/>
                  <a:sym typeface="Agrandir Bold"/>
                </a:rPr>
                <a:t> </a:t>
              </a:r>
              <a:r>
                <a:rPr lang="en-US" sz="5400" dirty="0" smtClean="0">
                  <a:solidFill>
                    <a:schemeClr val="accent1">
                      <a:lumMod val="50000"/>
                    </a:schemeClr>
                  </a:solidFill>
                  <a:latin typeface="Agrandir Bold"/>
                  <a:ea typeface="Agrandir Bold"/>
                  <a:cs typeface="Agrandir Bold"/>
                  <a:sym typeface="Agrandir Bold"/>
                </a:rPr>
                <a:t>1</a:t>
              </a:r>
              <a:r>
                <a:rPr lang="en-US" sz="6640" dirty="0" smtClean="0">
                  <a:solidFill>
                    <a:schemeClr val="accent1">
                      <a:lumMod val="50000"/>
                    </a:schemeClr>
                  </a:solidFill>
                  <a:latin typeface="Agrandir Bold"/>
                  <a:ea typeface="Agrandir Bold"/>
                  <a:cs typeface="Agrandir Bold"/>
                  <a:sym typeface="Agrandir Bold"/>
                </a:rPr>
                <a:t>.</a:t>
              </a:r>
              <a:r>
                <a:rPr lang="en-US" sz="5400" dirty="0" smtClean="0">
                  <a:solidFill>
                    <a:schemeClr val="accent1">
                      <a:lumMod val="50000"/>
                    </a:schemeClr>
                  </a:solidFill>
                  <a:latin typeface="Agrandir Bold"/>
                  <a:ea typeface="Agrandir Bold"/>
                  <a:cs typeface="Agrandir Bold"/>
                  <a:sym typeface="Agrandir Bold"/>
                </a:rPr>
                <a:t>Introduction</a:t>
              </a:r>
            </a:p>
            <a:p>
              <a:pPr algn="l">
                <a:lnSpc>
                  <a:spcPts val="7968"/>
                </a:lnSpc>
              </a:pPr>
              <a:endParaRPr lang="en-US" sz="5400" dirty="0">
                <a:solidFill>
                  <a:schemeClr val="accent1">
                    <a:lumMod val="75000"/>
                  </a:schemeClr>
                </a:solidFill>
                <a:latin typeface="Agrandir Bold"/>
                <a:ea typeface="Agrandir Bold"/>
                <a:cs typeface="Agrandir Bold"/>
                <a:sym typeface="Agrandir Bold"/>
              </a:endParaRPr>
            </a:p>
            <a:p>
              <a:pPr marL="0" lvl="0" indent="0" algn="l">
                <a:lnSpc>
                  <a:spcPts val="1593"/>
                </a:lnSpc>
                <a:spcBef>
                  <a:spcPct val="0"/>
                </a:spcBef>
              </a:pPr>
              <a:endParaRPr lang="en-US" sz="6640" dirty="0">
                <a:solidFill>
                  <a:schemeClr val="accent1">
                    <a:lumMod val="75000"/>
                  </a:schemeClr>
                </a:solidFill>
                <a:latin typeface="Agrandir Bold"/>
                <a:ea typeface="Agrandir Bold"/>
                <a:cs typeface="Agrandir Bold"/>
                <a:sym typeface="Agrandir Bold"/>
              </a:endParaRPr>
            </a:p>
          </p:txBody>
        </p:sp>
        <p:sp>
          <p:nvSpPr>
            <p:cNvPr id="6" name="TextBox 6"/>
            <p:cNvSpPr txBox="1"/>
            <p:nvPr/>
          </p:nvSpPr>
          <p:spPr>
            <a:xfrm>
              <a:off x="0" y="1931679"/>
              <a:ext cx="22182220" cy="2718693"/>
            </a:xfrm>
            <a:prstGeom prst="rect">
              <a:avLst/>
            </a:prstGeom>
          </p:spPr>
          <p:txBody>
            <a:bodyPr lIns="0" tIns="0" rIns="0" bIns="0" rtlCol="0" anchor="t">
              <a:spAutoFit/>
            </a:bodyPr>
            <a:lstStyle/>
            <a:p>
              <a:pPr algn="just">
                <a:lnSpc>
                  <a:spcPts val="5429"/>
                </a:lnSpc>
              </a:pPr>
              <a:endParaRPr lang="en-US" sz="4014" dirty="0">
                <a:solidFill>
                  <a:srgbClr val="2B2B2B"/>
                </a:solidFill>
                <a:latin typeface="Times New Roman Bold"/>
                <a:ea typeface="Times New Roman Bold"/>
                <a:cs typeface="Times New Roman Bold"/>
                <a:sym typeface="Times New Roman Bold"/>
              </a:endParaRPr>
            </a:p>
            <a:p>
              <a:pPr algn="l">
                <a:lnSpc>
                  <a:spcPts val="3452"/>
                </a:lnSpc>
              </a:pPr>
              <a:endParaRPr lang="en-US" sz="4014" dirty="0">
                <a:solidFill>
                  <a:srgbClr val="2B2B2B"/>
                </a:solidFill>
                <a:latin typeface="Times New Roman Bold"/>
                <a:ea typeface="Times New Roman Bold"/>
                <a:cs typeface="Times New Roman Bold"/>
                <a:sym typeface="Times New Roman Bold"/>
              </a:endParaRPr>
            </a:p>
            <a:p>
              <a:pPr algn="l">
                <a:lnSpc>
                  <a:spcPts val="3452"/>
                </a:lnSpc>
              </a:pPr>
              <a:endParaRPr lang="en-US" sz="4014" dirty="0">
                <a:solidFill>
                  <a:srgbClr val="2B2B2B"/>
                </a:solidFill>
                <a:latin typeface="Times New Roman Bold"/>
                <a:ea typeface="Times New Roman Bold"/>
                <a:cs typeface="Times New Roman Bold"/>
                <a:sym typeface="Times New Roman Bold"/>
              </a:endParaRPr>
            </a:p>
            <a:p>
              <a:pPr marL="0" lvl="0" indent="0" algn="l">
                <a:lnSpc>
                  <a:spcPts val="3452"/>
                </a:lnSpc>
              </a:pPr>
              <a:endParaRPr lang="en-US" sz="4014" dirty="0">
                <a:solidFill>
                  <a:srgbClr val="2B2B2B"/>
                </a:solidFill>
                <a:latin typeface="Times New Roman Bold"/>
                <a:ea typeface="Times New Roman Bold"/>
                <a:cs typeface="Times New Roman Bold"/>
                <a:sym typeface="Times New Roman Bold"/>
              </a:endParaRPr>
            </a:p>
          </p:txBody>
        </p:sp>
      </p:grpSp>
      <p:sp>
        <p:nvSpPr>
          <p:cNvPr id="3" name="Rectangle 2"/>
          <p:cNvSpPr/>
          <p:nvPr/>
        </p:nvSpPr>
        <p:spPr>
          <a:xfrm>
            <a:off x="1219199" y="-46523"/>
            <a:ext cx="15455153" cy="11910953"/>
          </a:xfrm>
          <a:prstGeom prst="rect">
            <a:avLst/>
          </a:prstGeom>
        </p:spPr>
        <p:txBody>
          <a:bodyPr wrap="square" anchor="ctr">
            <a:spAutoFit/>
          </a:bodyPr>
          <a:lstStyle/>
          <a:p>
            <a:pPr algn="just">
              <a:lnSpc>
                <a:spcPct val="150000"/>
              </a:lnSpc>
            </a:pPr>
            <a:endParaRPr lang="en-US" sz="4000" dirty="0" smtClean="0"/>
          </a:p>
          <a:p>
            <a:pPr algn="just">
              <a:lnSpc>
                <a:spcPct val="150000"/>
              </a:lnSpc>
            </a:pPr>
            <a:endParaRPr lang="en-US" sz="4000" dirty="0"/>
          </a:p>
          <a:p>
            <a:pPr algn="just">
              <a:lnSpc>
                <a:spcPct val="150000"/>
              </a:lnSpc>
            </a:pPr>
            <a:r>
              <a:rPr lang="en-US" sz="4000" dirty="0" smtClean="0"/>
              <a:t>Prompt </a:t>
            </a:r>
            <a:r>
              <a:rPr lang="en-US" sz="4000" dirty="0"/>
              <a:t>engineering is a technique used in artificial intelligence (AI) to design effective prompts that guide language models to generate accurate and meaningful responses. </a:t>
            </a:r>
            <a:r>
              <a:rPr lang="en-US" sz="4000" dirty="0"/>
              <a:t>In healthcare, it helps doctors and medical systems use AI for diagnosing diseases, suggesting treatments, and analyzing medical records. This makes healthcare faster, reduces mistakes, and helps doctors provide better care. It improves how AI interacts with medical professionals, making responses more accurate and helpful. This technology is transforming healthcare by making AI smarter and more reliable.</a:t>
            </a:r>
          </a:p>
          <a:p>
            <a:pPr>
              <a:lnSpc>
                <a:spcPct val="150000"/>
              </a:lnSpc>
            </a:pPr>
            <a:endParaRPr lang="en-US" sz="3600" dirty="0"/>
          </a:p>
          <a:p>
            <a:pPr lvl="0" algn="just" eaLnBrk="0" fontAlgn="base" hangingPunct="0">
              <a:lnSpc>
                <a:spcPct val="150000"/>
              </a:lnSpc>
              <a:spcBef>
                <a:spcPct val="0"/>
              </a:spcBef>
              <a:spcAft>
                <a:spcPct val="0"/>
              </a:spcAft>
            </a:pPr>
            <a:endParaRPr lang="en-US" altLang="en-US" sz="36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25000"/>
          </a:blip>
          <a:srcRect/>
          <a:stretch>
            <a:fillRect/>
          </a:stretch>
        </p:blipFill>
        <p:spPr>
          <a:xfrm rot="3203220">
            <a:off x="10157455" y="-265968"/>
            <a:ext cx="11814494" cy="12461864"/>
          </a:xfrm>
          <a:prstGeom prst="rect">
            <a:avLst/>
          </a:prstGeom>
        </p:spPr>
      </p:pic>
      <p:sp>
        <p:nvSpPr>
          <p:cNvPr id="4" name="TextBox 4"/>
          <p:cNvSpPr txBox="1"/>
          <p:nvPr/>
        </p:nvSpPr>
        <p:spPr>
          <a:xfrm>
            <a:off x="524220" y="377555"/>
            <a:ext cx="17230380" cy="9556462"/>
          </a:xfrm>
          <a:prstGeom prst="rect">
            <a:avLst/>
          </a:prstGeom>
        </p:spPr>
        <p:txBody>
          <a:bodyPr wrap="square" lIns="0" tIns="0" rIns="0" bIns="0" rtlCol="0" anchor="t">
            <a:spAutoFit/>
          </a:bodyPr>
          <a:lstStyle/>
          <a:p>
            <a:pPr algn="just">
              <a:lnSpc>
                <a:spcPct val="150000"/>
              </a:lnSpc>
            </a:pPr>
            <a:r>
              <a:rPr lang="en-IN" sz="5400" b="1" dirty="0" smtClean="0">
                <a:solidFill>
                  <a:schemeClr val="accent1">
                    <a:lumMod val="50000"/>
                  </a:schemeClr>
                </a:solidFill>
                <a:latin typeface="Times New Roman" panose="02020603050405020304" pitchFamily="18" charset="0"/>
                <a:cs typeface="Times New Roman" panose="02020603050405020304" pitchFamily="18" charset="0"/>
              </a:rPr>
              <a:t>2.Evolution </a:t>
            </a:r>
            <a:r>
              <a:rPr lang="en-IN" sz="5400" b="1" dirty="0">
                <a:solidFill>
                  <a:schemeClr val="accent1">
                    <a:lumMod val="50000"/>
                  </a:schemeClr>
                </a:solidFill>
                <a:latin typeface="Times New Roman" panose="02020603050405020304" pitchFamily="18" charset="0"/>
                <a:cs typeface="Times New Roman" panose="02020603050405020304" pitchFamily="18" charset="0"/>
              </a:rPr>
              <a:t>of AI in </a:t>
            </a:r>
            <a:r>
              <a:rPr lang="en-IN" sz="5400" b="1" dirty="0" smtClean="0">
                <a:solidFill>
                  <a:schemeClr val="accent1">
                    <a:lumMod val="50000"/>
                  </a:schemeClr>
                </a:solidFill>
                <a:latin typeface="Times New Roman" panose="02020603050405020304" pitchFamily="18" charset="0"/>
                <a:cs typeface="Times New Roman" panose="02020603050405020304" pitchFamily="18" charset="0"/>
              </a:rPr>
              <a:t>Healthcare</a:t>
            </a:r>
            <a:r>
              <a:rPr lang="en-US" sz="5400" b="1" u="none" dirty="0" smtClean="0">
                <a:solidFill>
                  <a:schemeClr val="accent1">
                    <a:lumMod val="50000"/>
                  </a:schemeClr>
                </a:solidFill>
                <a:latin typeface="Times New Roman" panose="02020603050405020304" pitchFamily="18" charset="0"/>
                <a:ea typeface="Agrandir Bold"/>
                <a:cs typeface="Times New Roman" panose="02020603050405020304" pitchFamily="18" charset="0"/>
                <a:sym typeface="Agrandir Bold"/>
              </a:rPr>
              <a:t>:</a:t>
            </a:r>
          </a:p>
          <a:p>
            <a:pPr algn="just">
              <a:lnSpc>
                <a:spcPct val="150000"/>
              </a:lnSpc>
            </a:pPr>
            <a:r>
              <a:rPr lang="en-IN" sz="3600" b="1" dirty="0"/>
              <a:t>Basic Queries (Pre-2010)</a:t>
            </a:r>
            <a:r>
              <a:rPr lang="en-IN" sz="3600" dirty="0"/>
              <a:t> – Early AI models relied on simple, rule-based prompts with limited medical understanding. </a:t>
            </a:r>
            <a:endParaRPr lang="en-IN" sz="3600" dirty="0" smtClean="0"/>
          </a:p>
          <a:p>
            <a:pPr algn="just">
              <a:lnSpc>
                <a:spcPct val="150000"/>
              </a:lnSpc>
            </a:pPr>
            <a:r>
              <a:rPr lang="en-IN" sz="3600" b="1" dirty="0" smtClean="0"/>
              <a:t>Context-Aware </a:t>
            </a:r>
            <a:r>
              <a:rPr lang="en-IN" sz="3600" b="1" dirty="0"/>
              <a:t>Prompts (2010-2015)</a:t>
            </a:r>
            <a:r>
              <a:rPr lang="en-IN" sz="3600" dirty="0"/>
              <a:t> – NLP advancements enabled AI to understand medical context and refine responses. </a:t>
            </a:r>
            <a:endParaRPr lang="en-IN" sz="3600" dirty="0" smtClean="0"/>
          </a:p>
          <a:p>
            <a:pPr algn="just">
              <a:lnSpc>
                <a:spcPct val="150000"/>
              </a:lnSpc>
            </a:pPr>
            <a:r>
              <a:rPr lang="en-IN" sz="3600" b="1" dirty="0" smtClean="0"/>
              <a:t>LLM-Based </a:t>
            </a:r>
            <a:r>
              <a:rPr lang="en-IN" sz="3600" b="1" dirty="0"/>
              <a:t>Prompt Engineering (2015-2020)</a:t>
            </a:r>
            <a:r>
              <a:rPr lang="en-IN" sz="3600" dirty="0"/>
              <a:t> – Large Language Models (LLMs) like GPT improved accuracy in medical diagnosis and research. </a:t>
            </a:r>
            <a:endParaRPr lang="en-IN" sz="3600" dirty="0" smtClean="0"/>
          </a:p>
          <a:p>
            <a:pPr algn="just">
              <a:lnSpc>
                <a:spcPct val="150000"/>
              </a:lnSpc>
            </a:pPr>
            <a:r>
              <a:rPr lang="en-IN" sz="3600" b="1" dirty="0" smtClean="0"/>
              <a:t>Optimized </a:t>
            </a:r>
            <a:r>
              <a:rPr lang="en-IN" sz="3600" b="1" dirty="0"/>
              <a:t>Prompt Techniques (2020-Present)</a:t>
            </a:r>
            <a:r>
              <a:rPr lang="en-IN" sz="3600" dirty="0"/>
              <a:t> – Advanced prompting strategies (zero-shot, few-shot learning) enhance AI reliability in healthcare applications. </a:t>
            </a:r>
            <a:endParaRPr lang="en-IN" sz="3600" dirty="0" smtClean="0"/>
          </a:p>
          <a:p>
            <a:pPr algn="just">
              <a:lnSpc>
                <a:spcPct val="150000"/>
              </a:lnSpc>
            </a:pPr>
            <a:r>
              <a:rPr lang="en-IN" sz="3600" b="1" dirty="0" smtClean="0"/>
              <a:t>Future </a:t>
            </a:r>
            <a:r>
              <a:rPr lang="en-IN" sz="3600" b="1" dirty="0"/>
              <a:t>Trends</a:t>
            </a:r>
            <a:r>
              <a:rPr lang="en-IN" sz="3600" dirty="0"/>
              <a:t> – AI-driven prompt engineering will improve personalized healthcare, automated decision support, and real-time clinical assistance.</a:t>
            </a:r>
            <a:endParaRPr lang="en-US" sz="3600" b="1" u="none" dirty="0" smtClean="0">
              <a:solidFill>
                <a:schemeClr val="accent1">
                  <a:lumMod val="50000"/>
                </a:schemeClr>
              </a:solidFill>
              <a:latin typeface="Times New Roman" panose="02020603050405020304" pitchFamily="18" charset="0"/>
              <a:ea typeface="Agrandir Bold"/>
              <a:cs typeface="Times New Roman" panose="02020603050405020304" pitchFamily="18" charset="0"/>
              <a:sym typeface="Agrandir Bold"/>
            </a:endParaRPr>
          </a:p>
        </p:txBody>
      </p:sp>
      <p:graphicFrame>
        <p:nvGraphicFramePr>
          <p:cNvPr id="6" name="Table 5"/>
          <p:cNvGraphicFramePr>
            <a:graphicFrameLocks noGrp="1"/>
          </p:cNvGraphicFramePr>
          <p:nvPr>
            <p:extLst>
              <p:ext uri="{D42A27DB-BD31-4B8C-83A1-F6EECF244321}">
                <p14:modId xmlns:p14="http://schemas.microsoft.com/office/powerpoint/2010/main" val="177018012"/>
              </p:ext>
            </p:extLst>
          </p:nvPr>
        </p:nvGraphicFramePr>
        <p:xfrm>
          <a:off x="1257300" y="6286500"/>
          <a:ext cx="15773400" cy="502920"/>
        </p:xfrm>
        <a:graphic>
          <a:graphicData uri="http://schemas.openxmlformats.org/drawingml/2006/table">
            <a:tbl>
              <a:tblPr/>
              <a:tblGrid>
                <a:gridCol w="15773400">
                  <a:extLst>
                    <a:ext uri="{9D8B030D-6E8A-4147-A177-3AD203B41FA5}">
                      <a16:colId xmlns="" xmlns:a16="http://schemas.microsoft.com/office/drawing/2014/main" val="583263413"/>
                    </a:ext>
                  </a:extLst>
                </a:gridCol>
              </a:tblGrid>
              <a:tr h="424498">
                <a:tc>
                  <a:txBody>
                    <a:bodyPr/>
                    <a:lstStyle/>
                    <a:p>
                      <a:endParaRPr lang="en-US" dirty="0"/>
                    </a:p>
                  </a:txBody>
                  <a:tcPr anchor="ctr">
                    <a:lnL>
                      <a:noFill/>
                    </a:lnL>
                    <a:lnR>
                      <a:noFill/>
                    </a:lnR>
                    <a:lnT>
                      <a:noFill/>
                    </a:lnT>
                    <a:lnB>
                      <a:noFill/>
                    </a:lnB>
                  </a:tcPr>
                </a:tc>
                <a:extLst>
                  <a:ext uri="{0D108BD9-81ED-4DB2-BD59-A6C34878D82A}">
                    <a16:rowId xmlns="" xmlns:a16="http://schemas.microsoft.com/office/drawing/2014/main" val="3584357287"/>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862718703"/>
              </p:ext>
            </p:extLst>
          </p:nvPr>
        </p:nvGraphicFramePr>
        <p:xfrm>
          <a:off x="914400" y="-6322512"/>
          <a:ext cx="18440400" cy="7659323"/>
        </p:xfrm>
        <a:graphic>
          <a:graphicData uri="http://schemas.openxmlformats.org/drawingml/2006/table">
            <a:tbl>
              <a:tblPr/>
              <a:tblGrid>
                <a:gridCol w="18440400">
                  <a:extLst>
                    <a:ext uri="{9D8B030D-6E8A-4147-A177-3AD203B41FA5}">
                      <a16:colId xmlns="" xmlns:a16="http://schemas.microsoft.com/office/drawing/2014/main" val="1637342911"/>
                    </a:ext>
                  </a:extLst>
                </a:gridCol>
              </a:tblGrid>
              <a:tr h="7659323">
                <a:tc>
                  <a:txBody>
                    <a:bodyPr/>
                    <a:lstStyle/>
                    <a:p>
                      <a:endParaRPr lang="en-US" dirty="0"/>
                    </a:p>
                  </a:txBody>
                  <a:tcPr anchor="ctr">
                    <a:lnL>
                      <a:noFill/>
                    </a:lnL>
                    <a:lnR>
                      <a:noFill/>
                    </a:lnR>
                    <a:lnT>
                      <a:noFill/>
                    </a:lnT>
                    <a:lnB>
                      <a:noFill/>
                    </a:lnB>
                  </a:tcPr>
                </a:tc>
                <a:extLst>
                  <a:ext uri="{0D108BD9-81ED-4DB2-BD59-A6C34878D82A}">
                    <a16:rowId xmlns="" xmlns:a16="http://schemas.microsoft.com/office/drawing/2014/main" val="1753755490"/>
                  </a:ext>
                </a:extLst>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25000"/>
          </a:blip>
          <a:srcRect/>
          <a:stretch>
            <a:fillRect/>
          </a:stretch>
        </p:blipFill>
        <p:spPr>
          <a:xfrm>
            <a:off x="-2819400" y="-1655611"/>
            <a:ext cx="19770751" cy="17919635"/>
          </a:xfrm>
          <a:prstGeom prst="rect">
            <a:avLst/>
          </a:prstGeom>
        </p:spPr>
      </p:pic>
      <p:pic>
        <p:nvPicPr>
          <p:cNvPr id="3" name="Picture 3"/>
          <p:cNvPicPr>
            <a:picLocks noChangeAspect="1"/>
          </p:cNvPicPr>
          <p:nvPr/>
        </p:nvPicPr>
        <p:blipFill>
          <a:blip r:embed="rId3">
            <a:alphaModFix amt="25000"/>
          </a:blip>
          <a:srcRect/>
          <a:stretch>
            <a:fillRect/>
          </a:stretch>
        </p:blipFill>
        <p:spPr>
          <a:xfrm rot="-3982960">
            <a:off x="13745551" y="-3705176"/>
            <a:ext cx="5352514" cy="7410352"/>
          </a:xfrm>
          <a:prstGeom prst="rect">
            <a:avLst/>
          </a:prstGeom>
        </p:spPr>
      </p:pic>
      <p:grpSp>
        <p:nvGrpSpPr>
          <p:cNvPr id="6" name="Group 6"/>
          <p:cNvGrpSpPr/>
          <p:nvPr/>
        </p:nvGrpSpPr>
        <p:grpSpPr>
          <a:xfrm>
            <a:off x="304800" y="989235"/>
            <a:ext cx="17068800" cy="4155569"/>
            <a:chOff x="363316" y="1383621"/>
            <a:chExt cx="22758400" cy="5540754"/>
          </a:xfrm>
        </p:grpSpPr>
        <p:sp>
          <p:nvSpPr>
            <p:cNvPr id="7" name="TextBox 7"/>
            <p:cNvSpPr txBox="1"/>
            <p:nvPr/>
          </p:nvSpPr>
          <p:spPr>
            <a:xfrm>
              <a:off x="363316" y="2704420"/>
              <a:ext cx="20726400" cy="4219955"/>
            </a:xfrm>
            <a:prstGeom prst="rect">
              <a:avLst/>
            </a:prstGeom>
          </p:spPr>
          <p:txBody>
            <a:bodyPr wrap="square" lIns="0" tIns="0" rIns="0" bIns="0" rtlCol="0" anchor="t">
              <a:spAutoFit/>
            </a:bodyPr>
            <a:lstStyle/>
            <a:p>
              <a:pPr lvl="0">
                <a:lnSpc>
                  <a:spcPts val="3723"/>
                </a:lnSpc>
                <a:spcBef>
                  <a:spcPct val="0"/>
                </a:spcBef>
              </a:pPr>
              <a:endParaRPr lang="en-US" sz="3319" dirty="0">
                <a:solidFill>
                  <a:srgbClr val="2B2B2B"/>
                </a:solidFill>
                <a:latin typeface="Times New Roman Bold"/>
                <a:ea typeface="Times New Roman Bold"/>
                <a:cs typeface="Times New Roman Bold"/>
                <a:sym typeface="Times New Roman Bold"/>
              </a:endParaRPr>
            </a:p>
            <a:p>
              <a:pPr marL="571500" indent="-571500" algn="just">
                <a:lnSpc>
                  <a:spcPct val="200000"/>
                </a:lnSpc>
                <a:spcBef>
                  <a:spcPct val="0"/>
                </a:spcBef>
                <a:buFont typeface="Arial" panose="020B0604020202020204" pitchFamily="34" charset="0"/>
                <a:buChar char="•"/>
              </a:pPr>
              <a:endParaRPr lang="en-US" altLang="en-US" sz="3600" dirty="0" smtClean="0">
                <a:latin typeface="Arial" panose="020B0604020202020204" pitchFamily="34" charset="0"/>
              </a:endParaRPr>
            </a:p>
            <a:p>
              <a:pPr marL="571500" indent="-571500" algn="just">
                <a:lnSpc>
                  <a:spcPct val="200000"/>
                </a:lnSpc>
                <a:spcBef>
                  <a:spcPct val="0"/>
                </a:spcBef>
                <a:buFont typeface="Arial" panose="020B0604020202020204" pitchFamily="34" charset="0"/>
                <a:buChar char="•"/>
              </a:pPr>
              <a:endParaRPr lang="en-US" altLang="en-US" sz="3600" dirty="0" smtClean="0">
                <a:latin typeface="Arial" panose="020B0604020202020204" pitchFamily="34" charset="0"/>
              </a:endParaRPr>
            </a:p>
            <a:p>
              <a:pPr lvl="0" algn="just">
                <a:lnSpc>
                  <a:spcPts val="3723"/>
                </a:lnSpc>
                <a:spcBef>
                  <a:spcPct val="0"/>
                </a:spcBef>
              </a:pPr>
              <a:endParaRPr lang="en-US" sz="3600" dirty="0">
                <a:solidFill>
                  <a:srgbClr val="2B2B2B"/>
                </a:solidFill>
                <a:latin typeface="Times New Roman" panose="02020603050405020304" pitchFamily="18" charset="0"/>
                <a:ea typeface="Times New Roman Bold"/>
                <a:cs typeface="Times New Roman" panose="02020603050405020304" pitchFamily="18" charset="0"/>
                <a:sym typeface="Times New Roman Bold"/>
              </a:endParaRPr>
            </a:p>
          </p:txBody>
        </p:sp>
        <p:sp>
          <p:nvSpPr>
            <p:cNvPr id="8" name="TextBox 8"/>
            <p:cNvSpPr txBox="1"/>
            <p:nvPr/>
          </p:nvSpPr>
          <p:spPr>
            <a:xfrm>
              <a:off x="566516" y="1383621"/>
              <a:ext cx="22555200" cy="4938100"/>
            </a:xfrm>
            <a:prstGeom prst="rect">
              <a:avLst/>
            </a:prstGeom>
          </p:spPr>
          <p:txBody>
            <a:bodyPr wrap="square" lIns="0" tIns="0" rIns="0" bIns="0" rtlCol="0" anchor="t">
              <a:spAutoFit/>
            </a:bodyPr>
            <a:lstStyle/>
            <a:p>
              <a:pPr lvl="0">
                <a:lnSpc>
                  <a:spcPts val="5560"/>
                </a:lnSpc>
                <a:spcBef>
                  <a:spcPct val="0"/>
                </a:spcBef>
              </a:pPr>
              <a:r>
                <a:rPr lang="en-IN" sz="6000" b="1" dirty="0" smtClean="0">
                  <a:solidFill>
                    <a:schemeClr val="accent1">
                      <a:lumMod val="50000"/>
                    </a:schemeClr>
                  </a:solidFill>
                  <a:latin typeface="Times New Roman" panose="02020603050405020304" pitchFamily="18" charset="0"/>
                  <a:cs typeface="Times New Roman" panose="02020603050405020304" pitchFamily="18" charset="0"/>
                </a:rPr>
                <a:t>3.Ojectives:</a:t>
              </a:r>
            </a:p>
            <a:p>
              <a:pPr lvl="0">
                <a:lnSpc>
                  <a:spcPts val="5560"/>
                </a:lnSpc>
                <a:spcBef>
                  <a:spcPct val="0"/>
                </a:spcBef>
              </a:pPr>
              <a:endParaRPr lang="en-US" sz="5400" b="1" dirty="0">
                <a:solidFill>
                  <a:schemeClr val="accent1">
                    <a:lumMod val="50000"/>
                  </a:schemeClr>
                </a:solidFill>
                <a:latin typeface="Times New Roman" panose="02020603050405020304" pitchFamily="18" charset="0"/>
                <a:cs typeface="Times New Roman" panose="02020603050405020304" pitchFamily="18" charset="0"/>
              </a:endParaRPr>
            </a:p>
            <a:p>
              <a:pPr lvl="0">
                <a:lnSpc>
                  <a:spcPts val="5560"/>
                </a:lnSpc>
                <a:spcBef>
                  <a:spcPct val="0"/>
                </a:spcBef>
              </a:pPr>
              <a:endParaRPr lang="en-IN" sz="5400" b="1" dirty="0" smtClean="0">
                <a:solidFill>
                  <a:schemeClr val="accent1">
                    <a:lumMod val="50000"/>
                  </a:schemeClr>
                </a:solidFill>
                <a:latin typeface="Times New Roman" panose="02020603050405020304" pitchFamily="18" charset="0"/>
                <a:cs typeface="Times New Roman" panose="02020603050405020304" pitchFamily="18" charset="0"/>
              </a:endParaRPr>
            </a:p>
            <a:p>
              <a:pPr algn="just">
                <a:lnSpc>
                  <a:spcPct val="150000"/>
                </a:lnSpc>
                <a:spcBef>
                  <a:spcPct val="0"/>
                </a:spcBef>
              </a:pPr>
              <a:r>
                <a:rPr lang="en-US" altLang="en-US" sz="3600" dirty="0" smtClean="0">
                  <a:latin typeface="Arial" panose="020B0604020202020204" pitchFamily="34" charset="0"/>
                </a:rPr>
                <a:t>.</a:t>
              </a:r>
              <a:endParaRPr lang="en-US" sz="5400" b="1" dirty="0">
                <a:solidFill>
                  <a:schemeClr val="accent1">
                    <a:lumMod val="50000"/>
                  </a:schemeClr>
                </a:solidFill>
                <a:latin typeface="Times New Roman" panose="02020603050405020304" pitchFamily="18" charset="0"/>
                <a:ea typeface="Times New Roman Bold"/>
                <a:cs typeface="Times New Roman" panose="02020603050405020304" pitchFamily="18" charset="0"/>
                <a:sym typeface="Times New Roman Bold"/>
              </a:endParaRPr>
            </a:p>
            <a:p>
              <a:pPr marL="0" lvl="0" indent="0" algn="l">
                <a:lnSpc>
                  <a:spcPts val="5560"/>
                </a:lnSpc>
                <a:spcBef>
                  <a:spcPct val="0"/>
                </a:spcBef>
              </a:pPr>
              <a:endParaRPr lang="en-US" sz="4633" dirty="0">
                <a:solidFill>
                  <a:schemeClr val="accent1">
                    <a:lumMod val="75000"/>
                  </a:schemeClr>
                </a:solidFill>
                <a:latin typeface="Agrandir Bold"/>
                <a:ea typeface="Agrandir Bold"/>
                <a:cs typeface="Agrandir Bold"/>
                <a:sym typeface="Agrandir Bold"/>
              </a:endParaRPr>
            </a:p>
          </p:txBody>
        </p:sp>
      </p:grpSp>
      <p:sp>
        <p:nvSpPr>
          <p:cNvPr id="4" name="Rectangle 1"/>
          <p:cNvSpPr>
            <a:spLocks noChangeArrowheads="1"/>
          </p:cNvSpPr>
          <p:nvPr/>
        </p:nvSpPr>
        <p:spPr bwMode="auto">
          <a:xfrm>
            <a:off x="0" y="-184666"/>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smtClean="0">
                <a:ln>
                  <a:noFill/>
                </a:ln>
                <a:solidFill>
                  <a:schemeClr val="tx1"/>
                </a:solidFill>
                <a:effectLst/>
                <a:latin typeface="Arial" panose="020B0604020202020204" pitchFamily="34" charset="0"/>
              </a:rPr>
              <a:t>.</a:t>
            </a:r>
          </a:p>
        </p:txBody>
      </p:sp>
      <p:sp>
        <p:nvSpPr>
          <p:cNvPr id="5" name="Rectangle 4"/>
          <p:cNvSpPr/>
          <p:nvPr/>
        </p:nvSpPr>
        <p:spPr>
          <a:xfrm>
            <a:off x="914400" y="3162300"/>
            <a:ext cx="15163800" cy="5632311"/>
          </a:xfrm>
          <a:prstGeom prst="rect">
            <a:avLst/>
          </a:prstGeom>
        </p:spPr>
        <p:txBody>
          <a:bodyPr wrap="square">
            <a:spAutoFit/>
          </a:bodyPr>
          <a:lstStyle/>
          <a:p>
            <a:pPr marL="571500" indent="-571500">
              <a:lnSpc>
                <a:spcPct val="150000"/>
              </a:lnSpc>
              <a:buFont typeface="Arial" pitchFamily="34" charset="0"/>
              <a:buChar char="•"/>
            </a:pPr>
            <a:r>
              <a:rPr lang="en-US" sz="4000" b="1" dirty="0"/>
              <a:t>To Enhance Medical Decision-Making</a:t>
            </a:r>
            <a:r>
              <a:rPr lang="en-US" sz="4000" dirty="0"/>
              <a:t> – Assist doctors with accurate AI-driven insights for diagnosis and treatment</a:t>
            </a:r>
            <a:r>
              <a:rPr lang="en-US" sz="4000" dirty="0" smtClean="0"/>
              <a:t>.</a:t>
            </a:r>
          </a:p>
          <a:p>
            <a:pPr marL="571500" indent="-571500">
              <a:lnSpc>
                <a:spcPct val="150000"/>
              </a:lnSpc>
              <a:buFont typeface="Arial" pitchFamily="34" charset="0"/>
              <a:buChar char="•"/>
            </a:pPr>
            <a:r>
              <a:rPr lang="en-US" sz="4000" dirty="0" smtClean="0"/>
              <a:t> </a:t>
            </a:r>
            <a:r>
              <a:rPr lang="en-US" sz="4000" b="1" dirty="0"/>
              <a:t>To Improve Patient Interaction</a:t>
            </a:r>
            <a:r>
              <a:rPr lang="en-US" sz="4000" dirty="0"/>
              <a:t> – Enable AI </a:t>
            </a:r>
            <a:r>
              <a:rPr lang="en-US" sz="4000" dirty="0" err="1"/>
              <a:t>chatbots</a:t>
            </a:r>
            <a:r>
              <a:rPr lang="en-US" sz="4000" dirty="0"/>
              <a:t> and virtual assistants to provide reliable health advice. </a:t>
            </a:r>
            <a:endParaRPr lang="en-US" sz="4000" dirty="0" smtClean="0"/>
          </a:p>
          <a:p>
            <a:pPr marL="571500" indent="-571500">
              <a:lnSpc>
                <a:spcPct val="150000"/>
              </a:lnSpc>
              <a:buFont typeface="Arial" pitchFamily="34" charset="0"/>
              <a:buChar char="•"/>
            </a:pPr>
            <a:r>
              <a:rPr lang="en-US" sz="4000" b="1" dirty="0"/>
              <a:t>To streamline medical record </a:t>
            </a:r>
            <a:r>
              <a:rPr lang="en-US" sz="4000" b="1" dirty="0" smtClean="0"/>
              <a:t>analysis--</a:t>
            </a:r>
            <a:r>
              <a:rPr lang="en-US" sz="4000" dirty="0" smtClean="0"/>
              <a:t> </a:t>
            </a:r>
            <a:r>
              <a:rPr lang="en-US" sz="4000" dirty="0"/>
              <a:t>by helping AI extract relevant information efficiently. </a:t>
            </a:r>
            <a:endParaRPr lang="en-US" sz="4000"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25000"/>
          </a:blip>
          <a:srcRect/>
          <a:stretch>
            <a:fillRect/>
          </a:stretch>
        </p:blipFill>
        <p:spPr>
          <a:xfrm rot="3203220">
            <a:off x="9856334" y="-298397"/>
            <a:ext cx="11814494" cy="12461864"/>
          </a:xfrm>
          <a:prstGeom prst="rect">
            <a:avLst/>
          </a:prstGeom>
        </p:spPr>
      </p:pic>
      <p:grpSp>
        <p:nvGrpSpPr>
          <p:cNvPr id="4" name="Group 4"/>
          <p:cNvGrpSpPr/>
          <p:nvPr/>
        </p:nvGrpSpPr>
        <p:grpSpPr>
          <a:xfrm>
            <a:off x="381000" y="190500"/>
            <a:ext cx="17017665" cy="7806564"/>
            <a:chOff x="0" y="622300"/>
            <a:chExt cx="22690220" cy="9892330"/>
          </a:xfrm>
        </p:grpSpPr>
        <p:sp>
          <p:nvSpPr>
            <p:cNvPr id="5" name="TextBox 5"/>
            <p:cNvSpPr txBox="1"/>
            <p:nvPr/>
          </p:nvSpPr>
          <p:spPr>
            <a:xfrm>
              <a:off x="508000" y="622300"/>
              <a:ext cx="22182220" cy="6906403"/>
            </a:xfrm>
            <a:prstGeom prst="rect">
              <a:avLst/>
            </a:prstGeom>
          </p:spPr>
          <p:txBody>
            <a:bodyPr lIns="0" tIns="0" rIns="0" bIns="0" rtlCol="0" anchor="t">
              <a:spAutoFit/>
            </a:bodyPr>
            <a:lstStyle/>
            <a:p>
              <a:pPr lvl="0">
                <a:lnSpc>
                  <a:spcPts val="5852"/>
                </a:lnSpc>
              </a:pPr>
              <a:r>
                <a:rPr lang="en-US" sz="5400" b="1" dirty="0" smtClean="0">
                  <a:solidFill>
                    <a:schemeClr val="accent1">
                      <a:lumMod val="50000"/>
                    </a:schemeClr>
                  </a:solidFill>
                  <a:latin typeface="Times New Roman" panose="02020603050405020304" pitchFamily="18" charset="0"/>
                  <a:ea typeface="Times New Roman Bold"/>
                  <a:cs typeface="Times New Roman" panose="02020603050405020304" pitchFamily="18" charset="0"/>
                  <a:sym typeface="Times New Roman Bold"/>
                </a:rPr>
                <a:t>4.</a:t>
              </a:r>
              <a:r>
                <a:rPr lang="en-IN" sz="5400" dirty="0">
                  <a:latin typeface="Times New Roman" panose="02020603050405020304" pitchFamily="18" charset="0"/>
                  <a:cs typeface="Times New Roman" panose="02020603050405020304" pitchFamily="18" charset="0"/>
                </a:rPr>
                <a:t> </a:t>
              </a:r>
              <a:r>
                <a:rPr lang="en-IN" sz="5400" b="1" dirty="0" smtClean="0">
                  <a:solidFill>
                    <a:schemeClr val="accent1">
                      <a:lumMod val="50000"/>
                    </a:schemeClr>
                  </a:solidFill>
                  <a:latin typeface="Times New Roman" panose="02020603050405020304" pitchFamily="18" charset="0"/>
                  <a:cs typeface="Times New Roman" panose="02020603050405020304" pitchFamily="18" charset="0"/>
                </a:rPr>
                <a:t>Methodology</a:t>
              </a:r>
            </a:p>
            <a:p>
              <a:pPr lvl="0">
                <a:lnSpc>
                  <a:spcPts val="5852"/>
                </a:lnSpc>
              </a:pPr>
              <a:endParaRPr lang="en-IN" sz="5400" b="1" dirty="0" smtClean="0">
                <a:solidFill>
                  <a:schemeClr val="accent1">
                    <a:lumMod val="50000"/>
                  </a:schemeClr>
                </a:solidFill>
                <a:latin typeface="Times New Roman" panose="02020603050405020304" pitchFamily="18" charset="0"/>
                <a:cs typeface="Times New Roman" panose="02020603050405020304" pitchFamily="18" charset="0"/>
              </a:endParaRPr>
            </a:p>
            <a:p>
              <a:pPr lvl="0">
                <a:lnSpc>
                  <a:spcPts val="5852"/>
                </a:lnSpc>
              </a:pPr>
              <a:endParaRPr lang="en-IN" sz="5400" b="1" dirty="0" smtClean="0">
                <a:solidFill>
                  <a:schemeClr val="accent1">
                    <a:lumMod val="50000"/>
                  </a:schemeClr>
                </a:solidFill>
                <a:latin typeface="Times New Roman" panose="02020603050405020304" pitchFamily="18" charset="0"/>
                <a:cs typeface="Times New Roman" panose="02020603050405020304" pitchFamily="18" charset="0"/>
              </a:endParaRPr>
            </a:p>
            <a:p>
              <a:pPr>
                <a:lnSpc>
                  <a:spcPts val="5852"/>
                </a:lnSpc>
              </a:pPr>
              <a:endParaRPr lang="en-US" sz="5400" b="1" dirty="0">
                <a:solidFill>
                  <a:schemeClr val="accent1">
                    <a:lumMod val="50000"/>
                  </a:schemeClr>
                </a:solidFill>
                <a:latin typeface="Times New Roman" panose="02020603050405020304" pitchFamily="18" charset="0"/>
                <a:ea typeface="Times New Roman Bold"/>
                <a:cs typeface="Times New Roman" panose="02020603050405020304" pitchFamily="18" charset="0"/>
                <a:sym typeface="Times New Roman Bold"/>
              </a:endParaRPr>
            </a:p>
            <a:p>
              <a:pPr>
                <a:lnSpc>
                  <a:spcPts val="5852"/>
                </a:lnSpc>
              </a:pPr>
              <a:endParaRPr lang="en-US" sz="5400" b="1" dirty="0">
                <a:solidFill>
                  <a:schemeClr val="accent1">
                    <a:lumMod val="75000"/>
                  </a:schemeClr>
                </a:solidFill>
                <a:latin typeface="Times New Roman" panose="02020603050405020304" pitchFamily="18" charset="0"/>
                <a:ea typeface="Agrandir Bold"/>
                <a:cs typeface="Times New Roman" panose="02020603050405020304" pitchFamily="18" charset="0"/>
                <a:sym typeface="Agrandir Bold"/>
              </a:endParaRPr>
            </a:p>
            <a:p>
              <a:pPr>
                <a:lnSpc>
                  <a:spcPts val="5712"/>
                </a:lnSpc>
              </a:pPr>
              <a:endParaRPr lang="en-US" sz="5400" dirty="0">
                <a:solidFill>
                  <a:srgbClr val="FF3131"/>
                </a:solidFill>
                <a:latin typeface="Times New Roman" panose="02020603050405020304" pitchFamily="18" charset="0"/>
                <a:ea typeface="Agrandir Bold"/>
                <a:cs typeface="Times New Roman" panose="02020603050405020304" pitchFamily="18" charset="0"/>
                <a:sym typeface="Agrandir Bold"/>
              </a:endParaRPr>
            </a:p>
            <a:p>
              <a:pPr lvl="0">
                <a:lnSpc>
                  <a:spcPts val="5712"/>
                </a:lnSpc>
                <a:spcBef>
                  <a:spcPct val="0"/>
                </a:spcBef>
              </a:pPr>
              <a:endParaRPr lang="en-US" sz="5400" dirty="0">
                <a:solidFill>
                  <a:srgbClr val="FF3131"/>
                </a:solidFill>
                <a:latin typeface="Times New Roman" panose="02020603050405020304" pitchFamily="18" charset="0"/>
                <a:ea typeface="Agrandir Bold"/>
                <a:cs typeface="Times New Roman" panose="02020603050405020304" pitchFamily="18" charset="0"/>
                <a:sym typeface="Agrandir Bold"/>
              </a:endParaRPr>
            </a:p>
            <a:p>
              <a:pPr marL="0" lvl="0" indent="0" algn="l">
                <a:lnSpc>
                  <a:spcPts val="1593"/>
                </a:lnSpc>
                <a:spcBef>
                  <a:spcPct val="0"/>
                </a:spcBef>
              </a:pPr>
              <a:endParaRPr lang="en-US" sz="5400" dirty="0">
                <a:solidFill>
                  <a:srgbClr val="FF3131"/>
                </a:solidFill>
                <a:latin typeface="Times New Roman" panose="02020603050405020304" pitchFamily="18" charset="0"/>
                <a:ea typeface="Agrandir Bold"/>
                <a:cs typeface="Times New Roman" panose="02020603050405020304" pitchFamily="18" charset="0"/>
                <a:sym typeface="Agrandir Bold"/>
              </a:endParaRPr>
            </a:p>
          </p:txBody>
        </p:sp>
        <p:sp>
          <p:nvSpPr>
            <p:cNvPr id="6" name="TextBox 6"/>
            <p:cNvSpPr txBox="1"/>
            <p:nvPr/>
          </p:nvSpPr>
          <p:spPr>
            <a:xfrm>
              <a:off x="0" y="1931678"/>
              <a:ext cx="22182220" cy="8582952"/>
            </a:xfrm>
            <a:prstGeom prst="rect">
              <a:avLst/>
            </a:prstGeom>
          </p:spPr>
          <p:txBody>
            <a:bodyPr lIns="0" tIns="0" rIns="0" bIns="0" rtlCol="0" anchor="t">
              <a:spAutoFit/>
            </a:bodyPr>
            <a:lstStyle/>
            <a:p>
              <a:r>
                <a:rPr lang="en-IN" sz="4000" b="1" dirty="0" smtClean="0">
                  <a:latin typeface="Times New Roman" panose="02020603050405020304" pitchFamily="18" charset="0"/>
                  <a:cs typeface="Times New Roman" panose="02020603050405020304" pitchFamily="18" charset="0"/>
                </a:rPr>
                <a:t>Data </a:t>
              </a:r>
              <a:r>
                <a:rPr lang="en-IN" sz="4000" b="1" dirty="0">
                  <a:latin typeface="Times New Roman" panose="02020603050405020304" pitchFamily="18" charset="0"/>
                  <a:cs typeface="Times New Roman" panose="02020603050405020304" pitchFamily="18" charset="0"/>
                </a:rPr>
                <a:t>Collection &amp; Processing:</a:t>
              </a:r>
              <a:endParaRPr lang="en-IN" sz="40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
              </a:pPr>
              <a:endParaRPr lang="en-IN" sz="40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ü"/>
              </a:pPr>
              <a:r>
                <a:rPr lang="en-IN" sz="4000" dirty="0" smtClean="0">
                  <a:latin typeface="Times New Roman" panose="02020603050405020304" pitchFamily="18" charset="0"/>
                  <a:cs typeface="Times New Roman" panose="02020603050405020304" pitchFamily="18" charset="0"/>
                </a:rPr>
                <a:t> </a:t>
              </a:r>
            </a:p>
            <a:p>
              <a:endParaRPr lang="en-IN" sz="4000" b="1" dirty="0">
                <a:latin typeface="Times New Roman" panose="02020603050405020304" pitchFamily="18" charset="0"/>
                <a:cs typeface="Times New Roman" panose="02020603050405020304" pitchFamily="18" charset="0"/>
              </a:endParaRPr>
            </a:p>
            <a:p>
              <a:endParaRPr lang="en-IN" sz="4000" b="1" dirty="0" smtClean="0">
                <a:latin typeface="Times New Roman" panose="02020603050405020304" pitchFamily="18" charset="0"/>
                <a:cs typeface="Times New Roman" panose="02020603050405020304" pitchFamily="18" charset="0"/>
              </a:endParaRPr>
            </a:p>
            <a:p>
              <a:r>
                <a:rPr lang="en-IN" sz="4000" b="1" dirty="0" smtClean="0">
                  <a:latin typeface="Times New Roman" panose="02020603050405020304" pitchFamily="18" charset="0"/>
                  <a:cs typeface="Times New Roman" panose="02020603050405020304" pitchFamily="18" charset="0"/>
                </a:rPr>
                <a:t>Model </a:t>
              </a:r>
              <a:r>
                <a:rPr lang="en-IN" sz="4000" b="1" dirty="0">
                  <a:latin typeface="Times New Roman" panose="02020603050405020304" pitchFamily="18" charset="0"/>
                  <a:cs typeface="Times New Roman" panose="02020603050405020304" pitchFamily="18" charset="0"/>
                </a:rPr>
                <a:t>Architecture:</a:t>
              </a:r>
              <a:endParaRPr lang="en-IN" sz="4000" dirty="0">
                <a:latin typeface="Times New Roman" panose="02020603050405020304" pitchFamily="18" charset="0"/>
                <a:cs typeface="Times New Roman" panose="02020603050405020304" pitchFamily="18" charset="0"/>
              </a:endParaRPr>
            </a:p>
            <a:p>
              <a:endParaRPr lang="en-IN" sz="4000" dirty="0" smtClean="0">
                <a:latin typeface="Times New Roman" panose="02020603050405020304" pitchFamily="18" charset="0"/>
                <a:cs typeface="Times New Roman" panose="02020603050405020304" pitchFamily="18" charset="0"/>
              </a:endParaRPr>
            </a:p>
            <a:p>
              <a:endParaRPr lang="en-IN" sz="4000" dirty="0">
                <a:latin typeface="Times New Roman" panose="02020603050405020304" pitchFamily="18" charset="0"/>
                <a:cs typeface="Times New Roman" panose="02020603050405020304" pitchFamily="18" charset="0"/>
              </a:endParaRPr>
            </a:p>
            <a:p>
              <a:endParaRPr lang="en-IN" sz="4000" dirty="0">
                <a:latin typeface="Times New Roman" panose="02020603050405020304" pitchFamily="18" charset="0"/>
                <a:cs typeface="Times New Roman" panose="02020603050405020304" pitchFamily="18" charset="0"/>
              </a:endParaRPr>
            </a:p>
            <a:p>
              <a:r>
                <a:rPr lang="en-IN" sz="4000" dirty="0">
                  <a:latin typeface="Times New Roman" panose="02020603050405020304" pitchFamily="18" charset="0"/>
                  <a:cs typeface="Times New Roman" panose="02020603050405020304" pitchFamily="18" charset="0"/>
                </a:rPr>
                <a:t/>
              </a:r>
              <a:br>
                <a:rPr lang="en-IN" sz="4000" dirty="0">
                  <a:latin typeface="Times New Roman" panose="02020603050405020304" pitchFamily="18" charset="0"/>
                  <a:cs typeface="Times New Roman" panose="02020603050405020304" pitchFamily="18" charset="0"/>
                </a:rPr>
              </a:br>
              <a:endParaRPr lang="en-US" sz="4014" dirty="0">
                <a:solidFill>
                  <a:srgbClr val="2B2B2B"/>
                </a:solidFill>
                <a:latin typeface="Times New Roman Bold"/>
                <a:ea typeface="Times New Roman Bold"/>
                <a:cs typeface="Times New Roman Bold"/>
                <a:sym typeface="Times New Roman Bold"/>
              </a:endParaRPr>
            </a:p>
          </p:txBody>
        </p:sp>
      </p:grpSp>
      <p:sp>
        <p:nvSpPr>
          <p:cNvPr id="3" name="Rectangle 2"/>
          <p:cNvSpPr/>
          <p:nvPr/>
        </p:nvSpPr>
        <p:spPr>
          <a:xfrm>
            <a:off x="762000" y="1790700"/>
            <a:ext cx="16383000" cy="5632311"/>
          </a:xfrm>
          <a:prstGeom prst="rect">
            <a:avLst/>
          </a:prstGeom>
        </p:spPr>
        <p:txBody>
          <a:bodyPr wrap="square">
            <a:spAutoFit/>
          </a:bodyPr>
          <a:lstStyle/>
          <a:p>
            <a:pPr>
              <a:lnSpc>
                <a:spcPct val="150000"/>
              </a:lnSpc>
            </a:pPr>
            <a:r>
              <a:rPr lang="en-US" sz="3600" dirty="0">
                <a:latin typeface="Times New Roman" pitchFamily="18" charset="0"/>
                <a:cs typeface="Times New Roman" pitchFamily="18" charset="0"/>
              </a:rPr>
              <a:t>Medical information is collected from reliable sources like health records and symptom </a:t>
            </a:r>
            <a:r>
              <a:rPr lang="en-US" sz="3600" dirty="0" smtClean="0">
                <a:latin typeface="Times New Roman" pitchFamily="18" charset="0"/>
                <a:cs typeface="Times New Roman" pitchFamily="18" charset="0"/>
              </a:rPr>
              <a:t>databases. It </a:t>
            </a:r>
            <a:r>
              <a:rPr lang="en-US" sz="3600" dirty="0">
                <a:latin typeface="Times New Roman" pitchFamily="18" charset="0"/>
                <a:cs typeface="Times New Roman" pitchFamily="18" charset="0"/>
              </a:rPr>
              <a:t>is then cleaned, made anonymous, and processed using AI to find important details while following safety rules</a:t>
            </a:r>
            <a:r>
              <a:rPr lang="en-US" sz="3600" dirty="0" smtClean="0">
                <a:latin typeface="Times New Roman" pitchFamily="18" charset="0"/>
                <a:cs typeface="Times New Roman" pitchFamily="18" charset="0"/>
              </a:rPr>
              <a:t>.</a:t>
            </a:r>
          </a:p>
          <a:p>
            <a:pPr>
              <a:lnSpc>
                <a:spcPct val="150000"/>
              </a:lnSpc>
            </a:pPr>
            <a:endParaRPr lang="en-US" sz="3600" dirty="0">
              <a:latin typeface="Times New Roman" pitchFamily="18" charset="0"/>
              <a:cs typeface="Times New Roman" pitchFamily="18" charset="0"/>
            </a:endParaRPr>
          </a:p>
          <a:p>
            <a:pPr>
              <a:lnSpc>
                <a:spcPct val="150000"/>
              </a:lnSpc>
            </a:pPr>
            <a:endParaRPr lang="en-US" sz="3600" dirty="0" smtClean="0">
              <a:latin typeface="Times New Roman" pitchFamily="18" charset="0"/>
              <a:cs typeface="Times New Roman" pitchFamily="18" charset="0"/>
            </a:endParaRPr>
          </a:p>
          <a:p>
            <a:pPr>
              <a:lnSpc>
                <a:spcPct val="150000"/>
              </a:lnSpc>
            </a:pPr>
            <a:endParaRPr lang="en-US" sz="3600" dirty="0" smtClean="0">
              <a:latin typeface="Times New Roman" pitchFamily="18" charset="0"/>
              <a:cs typeface="Times New Roman" pitchFamily="18" charset="0"/>
            </a:endParaRPr>
          </a:p>
          <a:p>
            <a:endParaRPr lang="en-IN" sz="3600" dirty="0">
              <a:latin typeface="Times New Roman" pitchFamily="18" charset="0"/>
              <a:cs typeface="Times New Roman" pitchFamily="18" charset="0"/>
            </a:endParaRPr>
          </a:p>
        </p:txBody>
      </p:sp>
      <p:sp>
        <p:nvSpPr>
          <p:cNvPr id="7" name="Rectangle 6"/>
          <p:cNvSpPr/>
          <p:nvPr/>
        </p:nvSpPr>
        <p:spPr>
          <a:xfrm>
            <a:off x="381000" y="4681835"/>
            <a:ext cx="17678400" cy="4247317"/>
          </a:xfrm>
          <a:prstGeom prst="rect">
            <a:avLst/>
          </a:prstGeom>
        </p:spPr>
        <p:txBody>
          <a:bodyPr wrap="square">
            <a:spAutoFit/>
          </a:bodyPr>
          <a:lstStyle/>
          <a:p>
            <a:pPr>
              <a:lnSpc>
                <a:spcPct val="150000"/>
              </a:lnSpc>
            </a:pPr>
            <a:r>
              <a:rPr lang="en-IN" sz="3600" b="1" dirty="0"/>
              <a:t>Transformer-based Model:</a:t>
            </a:r>
            <a:r>
              <a:rPr lang="en-IN" sz="3600" dirty="0"/>
              <a:t> Utilizes a Google FLAN-T5-Small model for medical text generation.</a:t>
            </a:r>
          </a:p>
          <a:p>
            <a:pPr>
              <a:lnSpc>
                <a:spcPct val="150000"/>
              </a:lnSpc>
            </a:pPr>
            <a:r>
              <a:rPr lang="en-IN" sz="3600" b="1" dirty="0"/>
              <a:t>Hugging Face Pipeline:</a:t>
            </a:r>
            <a:r>
              <a:rPr lang="en-IN" sz="3600" dirty="0"/>
              <a:t> Streamlines model implementation for text-to-text generation.</a:t>
            </a:r>
          </a:p>
          <a:p>
            <a:pPr>
              <a:lnSpc>
                <a:spcPct val="150000"/>
              </a:lnSpc>
            </a:pPr>
            <a:r>
              <a:rPr lang="en-IN" sz="3600" b="1" dirty="0" err="1" smtClean="0"/>
              <a:t>PyTorch</a:t>
            </a:r>
            <a:r>
              <a:rPr lang="en-IN" sz="3600" b="1" dirty="0" smtClean="0"/>
              <a:t> &amp; </a:t>
            </a:r>
            <a:r>
              <a:rPr lang="en-IN" sz="3600" b="1" dirty="0" err="1" smtClean="0"/>
              <a:t>Streamlit</a:t>
            </a:r>
            <a:r>
              <a:rPr lang="en-IN" sz="3600" b="1" dirty="0" smtClean="0"/>
              <a:t>:</a:t>
            </a:r>
            <a:r>
              <a:rPr lang="en-IN" sz="3600" dirty="0" smtClean="0"/>
              <a:t> Frameworks for AI model execution,  </a:t>
            </a:r>
            <a:r>
              <a:rPr lang="en-US" sz="3600" dirty="0" err="1"/>
              <a:t>PyTorch</a:t>
            </a:r>
            <a:r>
              <a:rPr lang="en-US" sz="3600" dirty="0"/>
              <a:t> helps with AI model execution, while </a:t>
            </a:r>
            <a:r>
              <a:rPr lang="en-US" sz="3600" dirty="0" err="1"/>
              <a:t>Streamlit</a:t>
            </a:r>
            <a:r>
              <a:rPr lang="en-US" sz="3600" dirty="0"/>
              <a:t> makes interactive web apps simple to create</a:t>
            </a:r>
            <a:r>
              <a:rPr lang="en-US" sz="3600" dirty="0" smtClean="0"/>
              <a:t>.</a:t>
            </a:r>
            <a:endParaRPr lang="en-IN" sz="3600" dirty="0"/>
          </a:p>
        </p:txBody>
      </p:sp>
    </p:spTree>
    <p:extLst>
      <p:ext uri="{BB962C8B-B14F-4D97-AF65-F5344CB8AC3E}">
        <p14:creationId xmlns:p14="http://schemas.microsoft.com/office/powerpoint/2010/main" val="22220318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25000"/>
          </a:blip>
          <a:srcRect/>
          <a:stretch>
            <a:fillRect/>
          </a:stretch>
        </p:blipFill>
        <p:spPr>
          <a:xfrm rot="3203220">
            <a:off x="10055853" y="-265970"/>
            <a:ext cx="11814494" cy="12461864"/>
          </a:xfrm>
          <a:prstGeom prst="rect">
            <a:avLst/>
          </a:prstGeom>
        </p:spPr>
      </p:pic>
      <p:grpSp>
        <p:nvGrpSpPr>
          <p:cNvPr id="4" name="Group 4"/>
          <p:cNvGrpSpPr/>
          <p:nvPr/>
        </p:nvGrpSpPr>
        <p:grpSpPr>
          <a:xfrm>
            <a:off x="457200" y="-876300"/>
            <a:ext cx="16636665" cy="3058877"/>
            <a:chOff x="0" y="-190500"/>
            <a:chExt cx="22182220" cy="3654136"/>
          </a:xfrm>
        </p:grpSpPr>
        <p:sp>
          <p:nvSpPr>
            <p:cNvPr id="5" name="TextBox 5"/>
            <p:cNvSpPr txBox="1"/>
            <p:nvPr/>
          </p:nvSpPr>
          <p:spPr>
            <a:xfrm>
              <a:off x="0" y="-190500"/>
              <a:ext cx="22182220" cy="2222830"/>
            </a:xfrm>
            <a:prstGeom prst="rect">
              <a:avLst/>
            </a:prstGeom>
          </p:spPr>
          <p:txBody>
            <a:bodyPr lIns="0" tIns="0" rIns="0" bIns="0" rtlCol="0" anchor="t">
              <a:spAutoFit/>
            </a:bodyPr>
            <a:lstStyle/>
            <a:p>
              <a:pPr>
                <a:lnSpc>
                  <a:spcPts val="5712"/>
                </a:lnSpc>
              </a:pPr>
              <a:endParaRPr lang="en-US" sz="5400" dirty="0">
                <a:solidFill>
                  <a:srgbClr val="FF3131"/>
                </a:solidFill>
                <a:latin typeface="Times New Roman" panose="02020603050405020304" pitchFamily="18" charset="0"/>
                <a:ea typeface="Agrandir Bold"/>
                <a:cs typeface="Times New Roman" panose="02020603050405020304" pitchFamily="18" charset="0"/>
                <a:sym typeface="Agrandir Bold"/>
              </a:endParaRPr>
            </a:p>
            <a:p>
              <a:pPr lvl="0">
                <a:lnSpc>
                  <a:spcPts val="5712"/>
                </a:lnSpc>
                <a:spcBef>
                  <a:spcPct val="0"/>
                </a:spcBef>
              </a:pPr>
              <a:endParaRPr lang="en-US" sz="5400" dirty="0">
                <a:solidFill>
                  <a:srgbClr val="FF3131"/>
                </a:solidFill>
                <a:latin typeface="Times New Roman" panose="02020603050405020304" pitchFamily="18" charset="0"/>
                <a:ea typeface="Agrandir Bold"/>
                <a:cs typeface="Times New Roman" panose="02020603050405020304" pitchFamily="18" charset="0"/>
                <a:sym typeface="Agrandir Bold"/>
              </a:endParaRPr>
            </a:p>
            <a:p>
              <a:pPr marL="0" lvl="0" indent="0" algn="l">
                <a:lnSpc>
                  <a:spcPts val="1593"/>
                </a:lnSpc>
                <a:spcBef>
                  <a:spcPct val="0"/>
                </a:spcBef>
              </a:pPr>
              <a:endParaRPr lang="en-US" sz="5400" dirty="0">
                <a:solidFill>
                  <a:srgbClr val="FF3131"/>
                </a:solidFill>
                <a:latin typeface="Times New Roman" panose="02020603050405020304" pitchFamily="18" charset="0"/>
                <a:ea typeface="Agrandir Bold"/>
                <a:cs typeface="Times New Roman" panose="02020603050405020304" pitchFamily="18" charset="0"/>
                <a:sym typeface="Agrandir Bold"/>
              </a:endParaRPr>
            </a:p>
          </p:txBody>
        </p:sp>
        <p:sp>
          <p:nvSpPr>
            <p:cNvPr id="6" name="TextBox 6"/>
            <p:cNvSpPr txBox="1"/>
            <p:nvPr/>
          </p:nvSpPr>
          <p:spPr>
            <a:xfrm>
              <a:off x="0" y="1931678"/>
              <a:ext cx="22182220" cy="1531958"/>
            </a:xfrm>
            <a:prstGeom prst="rect">
              <a:avLst/>
            </a:prstGeom>
          </p:spPr>
          <p:txBody>
            <a:bodyPr lIns="0" tIns="0" rIns="0" bIns="0" rtlCol="0" anchor="t">
              <a:spAutoFit/>
            </a:bodyPr>
            <a:lstStyle/>
            <a:p>
              <a:pPr marL="384466" lvl="1" algn="just">
                <a:lnSpc>
                  <a:spcPts val="4986"/>
                </a:lnSpc>
              </a:pPr>
              <a:endParaRPr lang="en-IN" sz="6000" b="1" dirty="0">
                <a:solidFill>
                  <a:schemeClr val="accent1">
                    <a:lumMod val="50000"/>
                  </a:schemeClr>
                </a:solidFill>
                <a:latin typeface="Times New Roman" panose="02020603050405020304" pitchFamily="18" charset="0"/>
                <a:cs typeface="Times New Roman" panose="02020603050405020304" pitchFamily="18" charset="0"/>
              </a:endParaRPr>
            </a:p>
            <a:p>
              <a:pPr marL="384466" lvl="1" algn="just">
                <a:lnSpc>
                  <a:spcPts val="4986"/>
                </a:lnSpc>
              </a:pPr>
              <a:endParaRPr lang="en-US" sz="3561" u="sng" dirty="0" smtClean="0">
                <a:solidFill>
                  <a:srgbClr val="000000"/>
                </a:solidFill>
                <a:latin typeface="Times New Roman" panose="02020603050405020304" pitchFamily="18" charset="0"/>
                <a:ea typeface="Times New Roman Bold"/>
                <a:cs typeface="Times New Roman" panose="02020603050405020304" pitchFamily="18" charset="0"/>
                <a:sym typeface="Times New Roman Bold"/>
              </a:endParaRPr>
            </a:p>
          </p:txBody>
        </p:sp>
      </p:grpSp>
      <p:sp>
        <p:nvSpPr>
          <p:cNvPr id="9" name="TextBox 8"/>
          <p:cNvSpPr txBox="1"/>
          <p:nvPr/>
        </p:nvSpPr>
        <p:spPr>
          <a:xfrm>
            <a:off x="838200" y="723900"/>
            <a:ext cx="15773400" cy="10341293"/>
          </a:xfrm>
          <a:prstGeom prst="rect">
            <a:avLst/>
          </a:prstGeom>
          <a:noFill/>
        </p:spPr>
        <p:txBody>
          <a:bodyPr wrap="square" rtlCol="0">
            <a:spAutoFit/>
          </a:bodyPr>
          <a:lstStyle/>
          <a:p>
            <a:r>
              <a:rPr lang="en-IN" sz="4400" dirty="0" smtClean="0">
                <a:latin typeface="Times New Roman" pitchFamily="18" charset="0"/>
                <a:cs typeface="Times New Roman" pitchFamily="18" charset="0"/>
              </a:rPr>
              <a:t>Workflow:</a:t>
            </a:r>
          </a:p>
          <a:p>
            <a:endParaRPr lang="en-IN" sz="4000" dirty="0" smtClean="0">
              <a:latin typeface="Times New Roman" pitchFamily="18" charset="0"/>
              <a:cs typeface="Times New Roman" pitchFamily="18" charset="0"/>
            </a:endParaRPr>
          </a:p>
          <a:p>
            <a:pPr>
              <a:lnSpc>
                <a:spcPct val="150000"/>
              </a:lnSpc>
            </a:pPr>
            <a:r>
              <a:rPr lang="en-US" sz="4000" b="1" dirty="0">
                <a:latin typeface="Times New Roman" pitchFamily="18" charset="0"/>
                <a:cs typeface="Times New Roman" pitchFamily="18" charset="0"/>
              </a:rPr>
              <a:t>User </a:t>
            </a:r>
            <a:r>
              <a:rPr lang="en-US" sz="4000" b="1" dirty="0" err="1" smtClean="0">
                <a:latin typeface="Times New Roman" pitchFamily="18" charset="0"/>
                <a:cs typeface="Times New Roman" pitchFamily="18" charset="0"/>
              </a:rPr>
              <a:t>Input:</a:t>
            </a:r>
            <a:r>
              <a:rPr lang="en-US" sz="3600" dirty="0" err="1" smtClean="0">
                <a:latin typeface="Times New Roman" pitchFamily="18" charset="0"/>
                <a:cs typeface="Times New Roman" pitchFamily="18" charset="0"/>
              </a:rPr>
              <a:t>Users</a:t>
            </a:r>
            <a:r>
              <a:rPr lang="en-US" sz="3600" dirty="0" smtClean="0">
                <a:latin typeface="Times New Roman" pitchFamily="18" charset="0"/>
                <a:cs typeface="Times New Roman" pitchFamily="18" charset="0"/>
              </a:rPr>
              <a:t> </a:t>
            </a:r>
            <a:r>
              <a:rPr lang="en-US" sz="3600" dirty="0">
                <a:latin typeface="Times New Roman" pitchFamily="18" charset="0"/>
                <a:cs typeface="Times New Roman" pitchFamily="18" charset="0"/>
              </a:rPr>
              <a:t>enter symptoms as text through a simple UI (</a:t>
            </a:r>
            <a:r>
              <a:rPr lang="en-US" sz="3600" dirty="0" err="1">
                <a:latin typeface="Times New Roman" pitchFamily="18" charset="0"/>
                <a:cs typeface="Times New Roman" pitchFamily="18" charset="0"/>
              </a:rPr>
              <a:t>Streamlit</a:t>
            </a:r>
            <a:r>
              <a:rPr lang="en-US" sz="3600" dirty="0">
                <a:latin typeface="Times New Roman" pitchFamily="18" charset="0"/>
                <a:cs typeface="Times New Roman" pitchFamily="18" charset="0"/>
              </a:rPr>
              <a:t>-based).</a:t>
            </a:r>
          </a:p>
          <a:p>
            <a:pPr>
              <a:lnSpc>
                <a:spcPct val="150000"/>
              </a:lnSpc>
            </a:pPr>
            <a:r>
              <a:rPr lang="en-US" sz="4000" b="1" dirty="0" err="1" smtClean="0">
                <a:latin typeface="Times New Roman" pitchFamily="18" charset="0"/>
                <a:cs typeface="Times New Roman" pitchFamily="18" charset="0"/>
              </a:rPr>
              <a:t>Preprocessing:</a:t>
            </a:r>
            <a:r>
              <a:rPr lang="en-US" sz="3600" dirty="0" err="1" smtClean="0">
                <a:latin typeface="Times New Roman" pitchFamily="18" charset="0"/>
                <a:cs typeface="Times New Roman" pitchFamily="18" charset="0"/>
              </a:rPr>
              <a:t>Transforms</a:t>
            </a:r>
            <a:r>
              <a:rPr lang="en-US" sz="3600" dirty="0" smtClean="0">
                <a:latin typeface="Times New Roman" pitchFamily="18" charset="0"/>
                <a:cs typeface="Times New Roman" pitchFamily="18" charset="0"/>
              </a:rPr>
              <a:t> </a:t>
            </a:r>
            <a:r>
              <a:rPr lang="en-US" sz="3600" dirty="0">
                <a:latin typeface="Times New Roman" pitchFamily="18" charset="0"/>
                <a:cs typeface="Times New Roman" pitchFamily="18" charset="0"/>
              </a:rPr>
              <a:t>input symptoms into clear and relevant prompts for accurate AI processing.</a:t>
            </a:r>
            <a:endParaRPr lang="en-IN" sz="3600" dirty="0" smtClean="0">
              <a:latin typeface="Times New Roman" pitchFamily="18" charset="0"/>
              <a:cs typeface="Times New Roman" pitchFamily="18" charset="0"/>
            </a:endParaRPr>
          </a:p>
          <a:p>
            <a:pPr>
              <a:lnSpc>
                <a:spcPct val="150000"/>
              </a:lnSpc>
            </a:pPr>
            <a:r>
              <a:rPr lang="en-IN" sz="4000" b="1" dirty="0">
                <a:latin typeface="Times New Roman" pitchFamily="18" charset="0"/>
                <a:cs typeface="Times New Roman" pitchFamily="18" charset="0"/>
              </a:rPr>
              <a:t>Query </a:t>
            </a:r>
            <a:r>
              <a:rPr lang="en-IN" sz="4000" b="1" dirty="0" err="1" smtClean="0">
                <a:latin typeface="Times New Roman" pitchFamily="18" charset="0"/>
                <a:cs typeface="Times New Roman" pitchFamily="18" charset="0"/>
              </a:rPr>
              <a:t>Processing:</a:t>
            </a:r>
            <a:r>
              <a:rPr lang="en-IN" sz="3600" dirty="0" err="1" smtClean="0">
                <a:latin typeface="Times New Roman" pitchFamily="18" charset="0"/>
                <a:cs typeface="Times New Roman" pitchFamily="18" charset="0"/>
              </a:rPr>
              <a:t>The</a:t>
            </a:r>
            <a:r>
              <a:rPr lang="en-IN" sz="3600" dirty="0" smtClean="0">
                <a:latin typeface="Times New Roman" pitchFamily="18" charset="0"/>
                <a:cs typeface="Times New Roman" pitchFamily="18" charset="0"/>
              </a:rPr>
              <a:t> </a:t>
            </a:r>
            <a:r>
              <a:rPr lang="en-IN" sz="3600" dirty="0">
                <a:latin typeface="Times New Roman" pitchFamily="18" charset="0"/>
                <a:cs typeface="Times New Roman" pitchFamily="18" charset="0"/>
              </a:rPr>
              <a:t>AI model (FLAN-T5-Small) generates medical responses using prompt engineering techniques for accuracy.</a:t>
            </a:r>
          </a:p>
          <a:p>
            <a:pPr>
              <a:lnSpc>
                <a:spcPct val="150000"/>
              </a:lnSpc>
            </a:pPr>
            <a:r>
              <a:rPr lang="en-IN" sz="4000" b="1" dirty="0">
                <a:latin typeface="Times New Roman" pitchFamily="18" charset="0"/>
                <a:cs typeface="Times New Roman" pitchFamily="18" charset="0"/>
              </a:rPr>
              <a:t>AI Response </a:t>
            </a:r>
            <a:r>
              <a:rPr lang="en-IN" sz="4000" b="1" dirty="0" err="1" smtClean="0">
                <a:latin typeface="Times New Roman" pitchFamily="18" charset="0"/>
                <a:cs typeface="Times New Roman" pitchFamily="18" charset="0"/>
              </a:rPr>
              <a:t>Generation:</a:t>
            </a:r>
            <a:r>
              <a:rPr lang="en-IN" sz="3600" dirty="0" err="1" smtClean="0">
                <a:latin typeface="Times New Roman" pitchFamily="18" charset="0"/>
                <a:cs typeface="Times New Roman" pitchFamily="18" charset="0"/>
              </a:rPr>
              <a:t>The</a:t>
            </a:r>
            <a:r>
              <a:rPr lang="en-IN" sz="3600" dirty="0" smtClean="0">
                <a:latin typeface="Times New Roman" pitchFamily="18" charset="0"/>
                <a:cs typeface="Times New Roman" pitchFamily="18" charset="0"/>
              </a:rPr>
              <a:t> </a:t>
            </a:r>
            <a:r>
              <a:rPr lang="en-IN" sz="3600" dirty="0">
                <a:latin typeface="Times New Roman" pitchFamily="18" charset="0"/>
                <a:cs typeface="Times New Roman" pitchFamily="18" charset="0"/>
              </a:rPr>
              <a:t>model predicts possible illnesses based on symptoms, ensuring clear and relevant output</a:t>
            </a:r>
            <a:r>
              <a:rPr lang="en-IN" sz="4000" dirty="0"/>
              <a:t>.</a:t>
            </a:r>
          </a:p>
          <a:p>
            <a:pPr>
              <a:lnSpc>
                <a:spcPct val="150000"/>
              </a:lnSpc>
            </a:pPr>
            <a:r>
              <a:rPr lang="en-IN" sz="4000" b="1" dirty="0">
                <a:latin typeface="Times New Roman" pitchFamily="18" charset="0"/>
                <a:cs typeface="Times New Roman" pitchFamily="18" charset="0"/>
              </a:rPr>
              <a:t>User Interaction &amp; </a:t>
            </a:r>
            <a:r>
              <a:rPr lang="en-IN" sz="4000" b="1" dirty="0" err="1" smtClean="0">
                <a:latin typeface="Times New Roman" pitchFamily="18" charset="0"/>
                <a:cs typeface="Times New Roman" pitchFamily="18" charset="0"/>
              </a:rPr>
              <a:t>Feedback:</a:t>
            </a:r>
            <a:r>
              <a:rPr lang="en-IN" sz="3600" dirty="0" err="1" smtClean="0">
                <a:latin typeface="Times New Roman" pitchFamily="18" charset="0"/>
                <a:cs typeface="Times New Roman" pitchFamily="18" charset="0"/>
              </a:rPr>
              <a:t>Users</a:t>
            </a:r>
            <a:r>
              <a:rPr lang="en-IN" sz="3600" dirty="0" smtClean="0">
                <a:latin typeface="Times New Roman" pitchFamily="18" charset="0"/>
                <a:cs typeface="Times New Roman" pitchFamily="18" charset="0"/>
              </a:rPr>
              <a:t> </a:t>
            </a:r>
            <a:r>
              <a:rPr lang="en-IN" sz="3600" dirty="0">
                <a:latin typeface="Times New Roman" pitchFamily="18" charset="0"/>
                <a:cs typeface="Times New Roman" pitchFamily="18" charset="0"/>
              </a:rPr>
              <a:t>receive AI-generated medical suggestions and can refine inputs for better results</a:t>
            </a:r>
            <a:r>
              <a:rPr lang="en-IN" sz="3600" dirty="0" smtClean="0">
                <a:latin typeface="Times New Roman" pitchFamily="18" charset="0"/>
                <a:cs typeface="Times New Roman" pitchFamily="18" charset="0"/>
              </a:rPr>
              <a:t>.</a:t>
            </a:r>
            <a:endParaRPr lang="en-IN" sz="3600" dirty="0">
              <a:latin typeface="Times New Roman" pitchFamily="18" charset="0"/>
              <a:cs typeface="Times New Roman" pitchFamily="18" charset="0"/>
            </a:endParaRPr>
          </a:p>
          <a:p>
            <a:pPr>
              <a:lnSpc>
                <a:spcPct val="150000"/>
              </a:lnSpc>
            </a:pPr>
            <a:endParaRPr lang="en-IN" sz="4000" dirty="0">
              <a:latin typeface="Times New Roman" pitchFamily="18" charset="0"/>
              <a:cs typeface="Times New Roman" pitchFamily="18" charset="0"/>
            </a:endParaRPr>
          </a:p>
        </p:txBody>
      </p:sp>
    </p:spTree>
    <p:extLst>
      <p:ext uri="{BB962C8B-B14F-4D97-AF65-F5344CB8AC3E}">
        <p14:creationId xmlns:p14="http://schemas.microsoft.com/office/powerpoint/2010/main" val="28096765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25000"/>
          </a:blip>
          <a:srcRect/>
          <a:stretch>
            <a:fillRect/>
          </a:stretch>
        </p:blipFill>
        <p:spPr>
          <a:xfrm rot="3203220">
            <a:off x="10055853" y="-265970"/>
            <a:ext cx="11814494" cy="12461864"/>
          </a:xfrm>
          <a:prstGeom prst="rect">
            <a:avLst/>
          </a:prstGeom>
        </p:spPr>
      </p:pic>
      <p:grpSp>
        <p:nvGrpSpPr>
          <p:cNvPr id="4" name="Group 4"/>
          <p:cNvGrpSpPr/>
          <p:nvPr/>
        </p:nvGrpSpPr>
        <p:grpSpPr>
          <a:xfrm>
            <a:off x="457200" y="419100"/>
            <a:ext cx="16636665" cy="3419590"/>
            <a:chOff x="0" y="-190500"/>
            <a:chExt cx="22182220" cy="4559452"/>
          </a:xfrm>
        </p:grpSpPr>
        <p:sp>
          <p:nvSpPr>
            <p:cNvPr id="5" name="TextBox 5"/>
            <p:cNvSpPr txBox="1"/>
            <p:nvPr/>
          </p:nvSpPr>
          <p:spPr>
            <a:xfrm>
              <a:off x="0" y="-190500"/>
              <a:ext cx="22182220" cy="4559452"/>
            </a:xfrm>
            <a:prstGeom prst="rect">
              <a:avLst/>
            </a:prstGeom>
          </p:spPr>
          <p:txBody>
            <a:bodyPr lIns="0" tIns="0" rIns="0" bIns="0" rtlCol="0" anchor="t">
              <a:spAutoFit/>
            </a:bodyPr>
            <a:lstStyle/>
            <a:p>
              <a:pPr>
                <a:lnSpc>
                  <a:spcPts val="6132"/>
                </a:lnSpc>
              </a:pPr>
              <a:endParaRPr lang="en-US" sz="5400" b="1" dirty="0">
                <a:solidFill>
                  <a:schemeClr val="accent1">
                    <a:lumMod val="50000"/>
                  </a:schemeClr>
                </a:solidFill>
                <a:latin typeface="Times New Roman" panose="02020603050405020304" pitchFamily="18" charset="0"/>
                <a:ea typeface="Times New Roman Bold"/>
                <a:cs typeface="Times New Roman" panose="02020603050405020304" pitchFamily="18" charset="0"/>
                <a:sym typeface="Times New Roman Bold"/>
              </a:endParaRPr>
            </a:p>
            <a:p>
              <a:pPr>
                <a:lnSpc>
                  <a:spcPts val="6132"/>
                </a:lnSpc>
              </a:pPr>
              <a:endParaRPr lang="en-US" sz="5400" b="1" dirty="0">
                <a:solidFill>
                  <a:schemeClr val="accent1">
                    <a:lumMod val="50000"/>
                  </a:schemeClr>
                </a:solidFill>
                <a:latin typeface="Times New Roman" panose="02020603050405020304" pitchFamily="18" charset="0"/>
                <a:ea typeface="Times New Roman Bold"/>
                <a:cs typeface="Times New Roman" panose="02020603050405020304" pitchFamily="18" charset="0"/>
                <a:sym typeface="Times New Roman Bold"/>
              </a:endParaRPr>
            </a:p>
            <a:p>
              <a:pPr>
                <a:lnSpc>
                  <a:spcPts val="6132"/>
                </a:lnSpc>
              </a:pPr>
              <a:endParaRPr lang="en-US" sz="5400" b="1" dirty="0">
                <a:solidFill>
                  <a:schemeClr val="accent1">
                    <a:lumMod val="75000"/>
                  </a:schemeClr>
                </a:solidFill>
                <a:latin typeface="Times New Roman" panose="02020603050405020304" pitchFamily="18" charset="0"/>
                <a:ea typeface="Agrandir Bold"/>
                <a:cs typeface="Times New Roman" panose="02020603050405020304" pitchFamily="18" charset="0"/>
                <a:sym typeface="Agrandir Bold"/>
              </a:endParaRPr>
            </a:p>
            <a:p>
              <a:pPr lvl="0">
                <a:lnSpc>
                  <a:spcPts val="5852"/>
                </a:lnSpc>
                <a:spcBef>
                  <a:spcPct val="0"/>
                </a:spcBef>
              </a:pPr>
              <a:endParaRPr lang="en-US" sz="5400" b="1" dirty="0">
                <a:solidFill>
                  <a:srgbClr val="FF3131"/>
                </a:solidFill>
                <a:latin typeface="Agrandir Bold"/>
                <a:ea typeface="Agrandir Bold"/>
                <a:cs typeface="Agrandir Bold"/>
                <a:sym typeface="Agrandir Bold"/>
              </a:endParaRPr>
            </a:p>
            <a:p>
              <a:pPr marL="0" lvl="0" indent="0" algn="l">
                <a:lnSpc>
                  <a:spcPts val="1593"/>
                </a:lnSpc>
                <a:spcBef>
                  <a:spcPct val="0"/>
                </a:spcBef>
              </a:pPr>
              <a:endParaRPr lang="en-US" sz="5400" b="1" dirty="0">
                <a:solidFill>
                  <a:srgbClr val="FF3131"/>
                </a:solidFill>
                <a:latin typeface="Times New Roman" panose="02020603050405020304" pitchFamily="18" charset="0"/>
                <a:ea typeface="Agrandir Bold"/>
                <a:cs typeface="Times New Roman" panose="02020603050405020304" pitchFamily="18" charset="0"/>
                <a:sym typeface="Agrandir Bold"/>
              </a:endParaRPr>
            </a:p>
          </p:txBody>
        </p:sp>
        <p:sp>
          <p:nvSpPr>
            <p:cNvPr id="6" name="TextBox 6"/>
            <p:cNvSpPr txBox="1"/>
            <p:nvPr/>
          </p:nvSpPr>
          <p:spPr>
            <a:xfrm>
              <a:off x="0" y="1931678"/>
              <a:ext cx="22182220" cy="816549"/>
            </a:xfrm>
            <a:prstGeom prst="rect">
              <a:avLst/>
            </a:prstGeom>
          </p:spPr>
          <p:txBody>
            <a:bodyPr lIns="0" tIns="0" rIns="0" bIns="0" rtlCol="0" anchor="t">
              <a:spAutoFit/>
            </a:bodyPr>
            <a:lstStyle/>
            <a:p>
              <a:pPr algn="just">
                <a:lnSpc>
                  <a:spcPts val="5231"/>
                </a:lnSpc>
              </a:pPr>
              <a:r>
                <a:rPr lang="en-US" sz="3736" dirty="0">
                  <a:solidFill>
                    <a:srgbClr val="952DB7"/>
                  </a:solidFill>
                  <a:latin typeface="Times New Roman Bold"/>
                  <a:ea typeface="Times New Roman Bold"/>
                  <a:cs typeface="Times New Roman Bold"/>
                  <a:sym typeface="Times New Roman Bold"/>
                </a:rPr>
                <a:t> </a:t>
              </a:r>
              <a:endParaRPr lang="en-US" sz="3636" dirty="0">
                <a:solidFill>
                  <a:srgbClr val="000000"/>
                </a:solidFill>
                <a:latin typeface="Times New Roman" panose="02020603050405020304" pitchFamily="18" charset="0"/>
                <a:ea typeface="Times New Roman Bold"/>
                <a:cs typeface="Times New Roman" panose="02020603050405020304" pitchFamily="18" charset="0"/>
                <a:sym typeface="Times New Roman Bold"/>
              </a:endParaRPr>
            </a:p>
          </p:txBody>
        </p:sp>
      </p:grpSp>
      <p:pic>
        <p:nvPicPr>
          <p:cNvPr id="2050" name="Picture 2" descr="C:\Users\ANUSHREE\Pictures\Screenshots\Screenshot 2025-03-20 14335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5" y="1333500"/>
            <a:ext cx="7921625" cy="724043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4495800" y="266700"/>
            <a:ext cx="6400800" cy="923330"/>
          </a:xfrm>
          <a:prstGeom prst="rect">
            <a:avLst/>
          </a:prstGeom>
          <a:noFill/>
        </p:spPr>
        <p:txBody>
          <a:bodyPr wrap="square" rtlCol="0">
            <a:spAutoFit/>
          </a:bodyPr>
          <a:lstStyle/>
          <a:p>
            <a:r>
              <a:rPr lang="en-IN" sz="5400" dirty="0" smtClean="0">
                <a:solidFill>
                  <a:schemeClr val="accent1">
                    <a:lumMod val="75000"/>
                  </a:schemeClr>
                </a:solidFill>
                <a:latin typeface="Times New Roman" pitchFamily="18" charset="0"/>
                <a:cs typeface="Times New Roman" pitchFamily="18" charset="0"/>
              </a:rPr>
              <a:t>           5.Snapshots</a:t>
            </a:r>
            <a:endParaRPr lang="en-IN" sz="5400" dirty="0">
              <a:solidFill>
                <a:schemeClr val="accent1">
                  <a:lumMod val="75000"/>
                </a:schemeClr>
              </a:solidFill>
              <a:latin typeface="Times New Roman" pitchFamily="18" charset="0"/>
              <a:cs typeface="Times New Roman" pitchFamily="18" charset="0"/>
            </a:endParaRPr>
          </a:p>
        </p:txBody>
      </p:sp>
      <p:pic>
        <p:nvPicPr>
          <p:cNvPr id="2051" name="Picture 3" descr="C:\Users\ANUSHREE\Pictures\Screenshots\Screenshot 2025-03-20 143703.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72599" y="1333500"/>
            <a:ext cx="8912225" cy="724043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1160929" y="9079006"/>
            <a:ext cx="6535271" cy="400110"/>
          </a:xfrm>
          <a:prstGeom prst="rect">
            <a:avLst/>
          </a:prstGeom>
          <a:noFill/>
        </p:spPr>
        <p:txBody>
          <a:bodyPr wrap="square" rtlCol="0">
            <a:spAutoFit/>
          </a:bodyPr>
          <a:lstStyle/>
          <a:p>
            <a:r>
              <a:rPr lang="en-IN" sz="2000" dirty="0" smtClean="0"/>
              <a:t>Fig:  User enter the prompt of the </a:t>
            </a:r>
            <a:r>
              <a:rPr lang="en-IN" sz="2000" dirty="0" err="1" smtClean="0"/>
              <a:t>sytmptom</a:t>
            </a:r>
            <a:r>
              <a:rPr lang="en-IN" sz="2000" dirty="0" smtClean="0"/>
              <a:t> .</a:t>
            </a:r>
            <a:endParaRPr lang="en-IN" sz="2000" dirty="0"/>
          </a:p>
        </p:txBody>
      </p:sp>
      <p:sp>
        <p:nvSpPr>
          <p:cNvPr id="10" name="TextBox 9"/>
          <p:cNvSpPr txBox="1"/>
          <p:nvPr/>
        </p:nvSpPr>
        <p:spPr>
          <a:xfrm>
            <a:off x="12420600" y="9079006"/>
            <a:ext cx="3578993" cy="707886"/>
          </a:xfrm>
          <a:prstGeom prst="rect">
            <a:avLst/>
          </a:prstGeom>
          <a:noFill/>
        </p:spPr>
        <p:txBody>
          <a:bodyPr wrap="none" rtlCol="0">
            <a:spAutoFit/>
          </a:bodyPr>
          <a:lstStyle/>
          <a:p>
            <a:r>
              <a:rPr lang="en-IN" sz="2000" dirty="0" smtClean="0"/>
              <a:t>Fig: possible condition they have</a:t>
            </a:r>
          </a:p>
          <a:p>
            <a:endParaRPr lang="en-IN" sz="2000" dirty="0"/>
          </a:p>
        </p:txBody>
      </p:sp>
    </p:spTree>
    <p:extLst>
      <p:ext uri="{BB962C8B-B14F-4D97-AF65-F5344CB8AC3E}">
        <p14:creationId xmlns:p14="http://schemas.microsoft.com/office/powerpoint/2010/main" val="361303373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25000"/>
          </a:blip>
          <a:srcRect/>
          <a:stretch>
            <a:fillRect/>
          </a:stretch>
        </p:blipFill>
        <p:spPr>
          <a:xfrm rot="3203220">
            <a:off x="10055853" y="226764"/>
            <a:ext cx="11814494" cy="12461864"/>
          </a:xfrm>
          <a:prstGeom prst="rect">
            <a:avLst/>
          </a:prstGeom>
        </p:spPr>
      </p:pic>
      <p:pic>
        <p:nvPicPr>
          <p:cNvPr id="3" name="Picture 3"/>
          <p:cNvPicPr>
            <a:picLocks noChangeAspect="1"/>
          </p:cNvPicPr>
          <p:nvPr/>
        </p:nvPicPr>
        <p:blipFill>
          <a:blip r:embed="rId3">
            <a:alphaModFix amt="25000"/>
          </a:blip>
          <a:srcRect/>
          <a:stretch>
            <a:fillRect/>
          </a:stretch>
        </p:blipFill>
        <p:spPr>
          <a:xfrm rot="-5741405">
            <a:off x="8316155" y="8504485"/>
            <a:ext cx="4865516" cy="6168780"/>
          </a:xfrm>
          <a:prstGeom prst="rect">
            <a:avLst/>
          </a:prstGeom>
        </p:spPr>
      </p:pic>
      <p:sp>
        <p:nvSpPr>
          <p:cNvPr id="4" name="TextBox 4"/>
          <p:cNvSpPr txBox="1"/>
          <p:nvPr/>
        </p:nvSpPr>
        <p:spPr>
          <a:xfrm>
            <a:off x="457200" y="495299"/>
            <a:ext cx="16783051" cy="9035807"/>
          </a:xfrm>
          <a:prstGeom prst="rect">
            <a:avLst/>
          </a:prstGeom>
        </p:spPr>
        <p:txBody>
          <a:bodyPr wrap="square" lIns="0" tIns="0" rIns="0" bIns="0" rtlCol="0" anchor="t">
            <a:spAutoFit/>
          </a:bodyPr>
          <a:lstStyle/>
          <a:p>
            <a:pPr lvl="0">
              <a:lnSpc>
                <a:spcPts val="5164"/>
              </a:lnSpc>
            </a:pPr>
            <a:r>
              <a:rPr lang="en-US" sz="4400" b="1" dirty="0" smtClean="0">
                <a:solidFill>
                  <a:schemeClr val="accent1">
                    <a:lumMod val="50000"/>
                  </a:schemeClr>
                </a:solidFill>
                <a:latin typeface="Times New Roman" panose="02020603050405020304" pitchFamily="18" charset="0"/>
                <a:ea typeface="Times New Roman Bold"/>
                <a:cs typeface="Times New Roman" panose="02020603050405020304" pitchFamily="18" charset="0"/>
                <a:sym typeface="Times New Roman Bold"/>
              </a:rPr>
              <a:t>6. </a:t>
            </a:r>
            <a:r>
              <a:rPr lang="en-IN" sz="4400" b="1" dirty="0">
                <a:solidFill>
                  <a:schemeClr val="accent1">
                    <a:lumMod val="50000"/>
                  </a:schemeClr>
                </a:solidFill>
                <a:latin typeface="Times New Roman" panose="02020603050405020304" pitchFamily="18" charset="0"/>
                <a:cs typeface="Times New Roman" panose="02020603050405020304" pitchFamily="18" charset="0"/>
              </a:rPr>
              <a:t>Advantages, </a:t>
            </a:r>
            <a:r>
              <a:rPr lang="en-IN" sz="4400" b="1" dirty="0" smtClean="0">
                <a:solidFill>
                  <a:schemeClr val="accent1">
                    <a:lumMod val="50000"/>
                  </a:schemeClr>
                </a:solidFill>
                <a:latin typeface="Times New Roman" panose="02020603050405020304" pitchFamily="18" charset="0"/>
                <a:cs typeface="Times New Roman" panose="02020603050405020304" pitchFamily="18" charset="0"/>
              </a:rPr>
              <a:t>disadvantages</a:t>
            </a:r>
          </a:p>
          <a:p>
            <a:pPr lvl="0" algn="just">
              <a:lnSpc>
                <a:spcPts val="5164"/>
              </a:lnSpc>
            </a:pPr>
            <a:endParaRPr lang="en-IN" sz="4400" b="1" dirty="0">
              <a:solidFill>
                <a:schemeClr val="accent1">
                  <a:lumMod val="50000"/>
                </a:schemeClr>
              </a:solidFill>
              <a:latin typeface="Times New Roman" panose="02020603050405020304" pitchFamily="18" charset="0"/>
              <a:cs typeface="Times New Roman" panose="02020603050405020304" pitchFamily="18" charset="0"/>
            </a:endParaRPr>
          </a:p>
          <a:p>
            <a:r>
              <a:rPr lang="en-US" sz="4400" b="1" u="sng" dirty="0"/>
              <a:t>Advantages of </a:t>
            </a:r>
            <a:r>
              <a:rPr lang="en-US" sz="4400" b="1" u="sng" dirty="0" smtClean="0"/>
              <a:t>Prompt Engineering </a:t>
            </a:r>
            <a:r>
              <a:rPr lang="en-US" sz="4400" b="1" u="sng" dirty="0"/>
              <a:t>in </a:t>
            </a:r>
            <a:r>
              <a:rPr lang="en-US" sz="4400" b="1" u="sng" dirty="0" smtClean="0"/>
              <a:t>Healthcare</a:t>
            </a:r>
          </a:p>
          <a:p>
            <a:endParaRPr lang="en-US" sz="4400" b="1" u="sng" dirty="0"/>
          </a:p>
          <a:p>
            <a:pPr marL="571500" indent="-571500">
              <a:buFont typeface="Arial" pitchFamily="34" charset="0"/>
              <a:buChar char="•"/>
            </a:pPr>
            <a:r>
              <a:rPr lang="en-IN" sz="4000" b="1" dirty="0"/>
              <a:t>Enhanced Diagnosis:</a:t>
            </a:r>
            <a:r>
              <a:rPr lang="en-IN" sz="4000" dirty="0"/>
              <a:t> AI provides quick and accurate medical insights</a:t>
            </a:r>
            <a:r>
              <a:rPr lang="en-IN" sz="4000" dirty="0" smtClean="0"/>
              <a:t>.</a:t>
            </a:r>
          </a:p>
          <a:p>
            <a:pPr marL="571500" indent="-571500">
              <a:buFont typeface="Arial" pitchFamily="34" charset="0"/>
              <a:buChar char="•"/>
            </a:pPr>
            <a:r>
              <a:rPr lang="en-IN" sz="4000" dirty="0"/>
              <a:t/>
            </a:r>
            <a:br>
              <a:rPr lang="en-IN" sz="4000" dirty="0"/>
            </a:br>
            <a:r>
              <a:rPr lang="en-IN" sz="4000" b="1" dirty="0" smtClean="0"/>
              <a:t>Improved </a:t>
            </a:r>
            <a:r>
              <a:rPr lang="en-IN" sz="4000" b="1" dirty="0"/>
              <a:t>Patient Interaction:</a:t>
            </a:r>
            <a:r>
              <a:rPr lang="en-IN" sz="4000" dirty="0"/>
              <a:t> </a:t>
            </a:r>
            <a:r>
              <a:rPr lang="en-IN" sz="4000" dirty="0" err="1"/>
              <a:t>Chatbots</a:t>
            </a:r>
            <a:r>
              <a:rPr lang="en-IN" sz="4000" dirty="0"/>
              <a:t> and virtual assistants offer instant responses</a:t>
            </a:r>
            <a:r>
              <a:rPr lang="en-IN" sz="4000" dirty="0" smtClean="0"/>
              <a:t>.</a:t>
            </a:r>
          </a:p>
          <a:p>
            <a:pPr marL="571500" indent="-571500">
              <a:buFont typeface="Arial" pitchFamily="34" charset="0"/>
              <a:buChar char="•"/>
            </a:pPr>
            <a:r>
              <a:rPr lang="en-IN" sz="4000" dirty="0"/>
              <a:t/>
            </a:r>
            <a:br>
              <a:rPr lang="en-IN" sz="4000" dirty="0"/>
            </a:br>
            <a:r>
              <a:rPr lang="en-IN" sz="4000" dirty="0" smtClean="0"/>
              <a:t> </a:t>
            </a:r>
            <a:r>
              <a:rPr lang="en-IN" sz="4000" b="1" dirty="0"/>
              <a:t>Efficient Documentation:</a:t>
            </a:r>
            <a:r>
              <a:rPr lang="en-IN" sz="4000" dirty="0"/>
              <a:t> Automates report generation, reducing doctors’ workload</a:t>
            </a:r>
            <a:r>
              <a:rPr lang="en-IN" sz="4000" dirty="0" smtClean="0"/>
              <a:t>.</a:t>
            </a:r>
          </a:p>
          <a:p>
            <a:pPr marL="571500" indent="-571500">
              <a:buFont typeface="Arial" pitchFamily="34" charset="0"/>
              <a:buChar char="•"/>
            </a:pPr>
            <a:r>
              <a:rPr lang="en-IN" sz="4000" dirty="0"/>
              <a:t/>
            </a:r>
            <a:br>
              <a:rPr lang="en-IN" sz="4000" dirty="0"/>
            </a:br>
            <a:r>
              <a:rPr lang="en-IN" sz="4000" dirty="0" smtClean="0"/>
              <a:t> </a:t>
            </a:r>
            <a:r>
              <a:rPr lang="en-IN" sz="4000" b="1" dirty="0"/>
              <a:t>Personalized Treatment:</a:t>
            </a:r>
            <a:r>
              <a:rPr lang="en-IN" sz="4000" dirty="0"/>
              <a:t> AI tailors medical advice based on patient data.</a:t>
            </a:r>
            <a:endParaRPr lang="en-US" sz="4000" dirty="0">
              <a:solidFill>
                <a:srgbClr val="2B2B2B"/>
              </a:solidFill>
              <a:latin typeface="Times New Roman Bold"/>
              <a:ea typeface="Times New Roman Bold"/>
              <a:cs typeface="Times New Roman Bold"/>
              <a:sym typeface="Times New Roman Bold"/>
            </a:endParaRPr>
          </a:p>
          <a:p>
            <a:pPr marL="571500" indent="-571500" algn="l">
              <a:buFont typeface="Arial" pitchFamily="34" charset="0"/>
              <a:buChar char="•"/>
            </a:pPr>
            <a:endParaRPr lang="en-US" sz="4000" dirty="0">
              <a:solidFill>
                <a:srgbClr val="2B2B2B"/>
              </a:solidFill>
              <a:latin typeface="Times New Roman Bold"/>
              <a:ea typeface="Times New Roman Bold"/>
              <a:cs typeface="Times New Roman Bold"/>
              <a:sym typeface="Times New Roman Bold"/>
            </a:endParaRPr>
          </a:p>
          <a:p>
            <a:pPr marL="0" lvl="0" indent="0" algn="l">
              <a:lnSpc>
                <a:spcPts val="1467"/>
              </a:lnSpc>
              <a:spcBef>
                <a:spcPct val="0"/>
              </a:spcBef>
            </a:pPr>
            <a:endParaRPr lang="en-US" sz="3603" dirty="0">
              <a:solidFill>
                <a:srgbClr val="2B2B2B"/>
              </a:solidFill>
              <a:latin typeface="Times New Roman Bold"/>
              <a:ea typeface="Times New Roman Bold"/>
              <a:cs typeface="Times New Roman Bold"/>
              <a:sym typeface="Times New Roman Bold"/>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25000"/>
          </a:blip>
          <a:srcRect/>
          <a:stretch>
            <a:fillRect/>
          </a:stretch>
        </p:blipFill>
        <p:spPr>
          <a:xfrm rot="3203220">
            <a:off x="10055853" y="226764"/>
            <a:ext cx="11814494" cy="12461864"/>
          </a:xfrm>
          <a:prstGeom prst="rect">
            <a:avLst/>
          </a:prstGeom>
        </p:spPr>
      </p:pic>
      <p:pic>
        <p:nvPicPr>
          <p:cNvPr id="3" name="Picture 3"/>
          <p:cNvPicPr>
            <a:picLocks noChangeAspect="1"/>
          </p:cNvPicPr>
          <p:nvPr/>
        </p:nvPicPr>
        <p:blipFill>
          <a:blip r:embed="rId3">
            <a:alphaModFix amt="25000"/>
          </a:blip>
          <a:srcRect/>
          <a:stretch>
            <a:fillRect/>
          </a:stretch>
        </p:blipFill>
        <p:spPr>
          <a:xfrm rot="-5741405">
            <a:off x="8316155" y="8504485"/>
            <a:ext cx="4865516" cy="6168780"/>
          </a:xfrm>
          <a:prstGeom prst="rect">
            <a:avLst/>
          </a:prstGeom>
        </p:spPr>
      </p:pic>
      <p:sp>
        <p:nvSpPr>
          <p:cNvPr id="4" name="TextBox 4"/>
          <p:cNvSpPr txBox="1"/>
          <p:nvPr/>
        </p:nvSpPr>
        <p:spPr>
          <a:xfrm>
            <a:off x="457200" y="495299"/>
            <a:ext cx="17526000" cy="7078861"/>
          </a:xfrm>
          <a:prstGeom prst="rect">
            <a:avLst/>
          </a:prstGeom>
        </p:spPr>
        <p:txBody>
          <a:bodyPr wrap="square" lIns="0" tIns="0" rIns="0" bIns="0" rtlCol="0" anchor="t">
            <a:spAutoFit/>
          </a:bodyPr>
          <a:lstStyle/>
          <a:p>
            <a:pPr lvl="0" algn="just">
              <a:lnSpc>
                <a:spcPts val="5164"/>
              </a:lnSpc>
            </a:pPr>
            <a:endParaRPr lang="en-IN" sz="4400" b="1" dirty="0">
              <a:solidFill>
                <a:schemeClr val="accent1">
                  <a:lumMod val="50000"/>
                </a:schemeClr>
              </a:solidFill>
              <a:latin typeface="Times New Roman" panose="02020603050405020304" pitchFamily="18" charset="0"/>
              <a:cs typeface="Times New Roman" panose="02020603050405020304" pitchFamily="18" charset="0"/>
            </a:endParaRPr>
          </a:p>
          <a:p>
            <a:r>
              <a:rPr lang="en-US" sz="4400" b="1" u="sng" dirty="0"/>
              <a:t>Disadvantages of AI in </a:t>
            </a:r>
            <a:r>
              <a:rPr lang="en-US" sz="4400" b="1" u="sng" dirty="0" smtClean="0"/>
              <a:t>Healthcare</a:t>
            </a:r>
          </a:p>
          <a:p>
            <a:endParaRPr lang="en-US" sz="4000" b="1" u="sng" dirty="0"/>
          </a:p>
          <a:p>
            <a:pPr marL="571500" indent="-571500">
              <a:lnSpc>
                <a:spcPts val="3364"/>
              </a:lnSpc>
              <a:buFont typeface="Wingdings" pitchFamily="2" charset="2"/>
              <a:buChar char="§"/>
            </a:pPr>
            <a:r>
              <a:rPr lang="en-US" sz="4000" b="1" dirty="0"/>
              <a:t>Data Privacy Concerns:</a:t>
            </a:r>
            <a:r>
              <a:rPr lang="en-US" sz="4000" dirty="0"/>
              <a:t> Handling sensitive medical data requires strict security measures</a:t>
            </a:r>
            <a:r>
              <a:rPr lang="en-US" sz="4000" dirty="0" smtClean="0"/>
              <a:t>.</a:t>
            </a:r>
          </a:p>
          <a:p>
            <a:pPr marL="571500" indent="-571500">
              <a:lnSpc>
                <a:spcPts val="3364"/>
              </a:lnSpc>
              <a:buFont typeface="Wingdings" pitchFamily="2" charset="2"/>
              <a:buChar char="§"/>
            </a:pPr>
            <a:r>
              <a:rPr lang="en-US" sz="4000" dirty="0"/>
              <a:t/>
            </a:r>
            <a:br>
              <a:rPr lang="en-US" sz="4000" dirty="0"/>
            </a:br>
            <a:r>
              <a:rPr lang="en-US" sz="4000" b="1" dirty="0" smtClean="0"/>
              <a:t>Dependence </a:t>
            </a:r>
            <a:r>
              <a:rPr lang="en-US" sz="4000" b="1" dirty="0"/>
              <a:t>on Quality Prompts:</a:t>
            </a:r>
            <a:r>
              <a:rPr lang="en-US" sz="4000" dirty="0"/>
              <a:t> Poorly designed prompts can lead to inaccurate results</a:t>
            </a:r>
            <a:r>
              <a:rPr lang="en-US" sz="4000" dirty="0" smtClean="0"/>
              <a:t>.</a:t>
            </a:r>
          </a:p>
          <a:p>
            <a:pPr marL="571500" indent="-571500">
              <a:lnSpc>
                <a:spcPts val="3364"/>
              </a:lnSpc>
              <a:buFont typeface="Wingdings" pitchFamily="2" charset="2"/>
              <a:buChar char="§"/>
            </a:pPr>
            <a:r>
              <a:rPr lang="en-US" sz="4000" dirty="0"/>
              <a:t/>
            </a:r>
            <a:br>
              <a:rPr lang="en-US" sz="4000" dirty="0"/>
            </a:br>
            <a:r>
              <a:rPr lang="en-US" sz="4000" dirty="0" smtClean="0"/>
              <a:t> </a:t>
            </a:r>
            <a:r>
              <a:rPr lang="en-US" sz="4000" b="1" dirty="0"/>
              <a:t>Limited Context Understanding:</a:t>
            </a:r>
            <a:r>
              <a:rPr lang="en-US" sz="4000" dirty="0"/>
              <a:t> AI may struggle with complex medical cases requiring human judgment</a:t>
            </a:r>
            <a:r>
              <a:rPr lang="en-US" sz="4000" dirty="0" smtClean="0"/>
              <a:t>.</a:t>
            </a:r>
          </a:p>
          <a:p>
            <a:pPr marL="571500" indent="-571500">
              <a:lnSpc>
                <a:spcPts val="3364"/>
              </a:lnSpc>
              <a:buFont typeface="Wingdings" pitchFamily="2" charset="2"/>
              <a:buChar char="§"/>
            </a:pPr>
            <a:r>
              <a:rPr lang="en-US" sz="4000" dirty="0"/>
              <a:t/>
            </a:r>
            <a:br>
              <a:rPr lang="en-US" sz="4000" dirty="0"/>
            </a:br>
            <a:r>
              <a:rPr lang="en-US" sz="4000" b="1" dirty="0" smtClean="0"/>
              <a:t>Ethical </a:t>
            </a:r>
            <a:r>
              <a:rPr lang="en-US" sz="4000" b="1" dirty="0"/>
              <a:t>and Legal Issues:</a:t>
            </a:r>
            <a:r>
              <a:rPr lang="en-US" sz="4000" dirty="0"/>
              <a:t> AI-generated advice must comply with healthcare regulations.</a:t>
            </a:r>
            <a:endParaRPr lang="en-US" sz="4000" dirty="0">
              <a:solidFill>
                <a:srgbClr val="2B2B2B"/>
              </a:solidFill>
              <a:latin typeface="Times New Roman Bold"/>
              <a:ea typeface="Times New Roman Bold"/>
              <a:cs typeface="Times New Roman Bold"/>
              <a:sym typeface="Times New Roman Bold"/>
            </a:endParaRPr>
          </a:p>
          <a:p>
            <a:pPr marL="571500" indent="-571500" algn="l">
              <a:lnSpc>
                <a:spcPts val="1467"/>
              </a:lnSpc>
              <a:buFont typeface="Wingdings" pitchFamily="2" charset="2"/>
              <a:buChar char="§"/>
            </a:pPr>
            <a:endParaRPr lang="en-US" sz="3603" dirty="0">
              <a:solidFill>
                <a:srgbClr val="2B2B2B"/>
              </a:solidFill>
              <a:latin typeface="Times New Roman Bold"/>
              <a:ea typeface="Times New Roman Bold"/>
              <a:cs typeface="Times New Roman Bold"/>
              <a:sym typeface="Times New Roman Bold"/>
            </a:endParaRPr>
          </a:p>
          <a:p>
            <a:pPr marL="571500" lvl="0" indent="-571500" algn="l">
              <a:lnSpc>
                <a:spcPts val="1467"/>
              </a:lnSpc>
              <a:spcBef>
                <a:spcPct val="0"/>
              </a:spcBef>
              <a:buFont typeface="Wingdings" pitchFamily="2" charset="2"/>
              <a:buChar char="§"/>
            </a:pPr>
            <a:endParaRPr lang="en-US" sz="3603" dirty="0">
              <a:solidFill>
                <a:srgbClr val="2B2B2B"/>
              </a:solidFill>
              <a:latin typeface="Times New Roman Bold"/>
              <a:ea typeface="Times New Roman Bold"/>
              <a:cs typeface="Times New Roman Bold"/>
              <a:sym typeface="Times New Roman Bold"/>
            </a:endParaRPr>
          </a:p>
        </p:txBody>
      </p:sp>
    </p:spTree>
    <p:extLst>
      <p:ext uri="{BB962C8B-B14F-4D97-AF65-F5344CB8AC3E}">
        <p14:creationId xmlns:p14="http://schemas.microsoft.com/office/powerpoint/2010/main" val="24594164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25000"/>
          </a:blip>
          <a:srcRect/>
          <a:stretch>
            <a:fillRect/>
          </a:stretch>
        </p:blipFill>
        <p:spPr>
          <a:xfrm>
            <a:off x="-1662681" y="-6438340"/>
            <a:ext cx="13761077" cy="14153590"/>
          </a:xfrm>
          <a:prstGeom prst="rect">
            <a:avLst/>
          </a:prstGeom>
        </p:spPr>
      </p:pic>
      <p:grpSp>
        <p:nvGrpSpPr>
          <p:cNvPr id="3" name="Group 3"/>
          <p:cNvGrpSpPr/>
          <p:nvPr/>
        </p:nvGrpSpPr>
        <p:grpSpPr>
          <a:xfrm>
            <a:off x="1066800" y="1409700"/>
            <a:ext cx="16154400" cy="14634776"/>
            <a:chOff x="-1692573" y="-323849"/>
            <a:chExt cx="19846627" cy="12286872"/>
          </a:xfrm>
        </p:grpSpPr>
        <p:sp>
          <p:nvSpPr>
            <p:cNvPr id="4" name="TextBox 4"/>
            <p:cNvSpPr txBox="1"/>
            <p:nvPr/>
          </p:nvSpPr>
          <p:spPr>
            <a:xfrm>
              <a:off x="-1692573" y="-323849"/>
              <a:ext cx="19846627" cy="12286872"/>
            </a:xfrm>
            <a:prstGeom prst="rect">
              <a:avLst/>
            </a:prstGeom>
          </p:spPr>
          <p:txBody>
            <a:bodyPr wrap="square" lIns="0" tIns="0" rIns="0" bIns="0" rtlCol="0" anchor="t">
              <a:spAutoFit/>
            </a:bodyPr>
            <a:lstStyle/>
            <a:p>
              <a:pPr>
                <a:lnSpc>
                  <a:spcPts val="13510"/>
                </a:lnSpc>
                <a:spcBef>
                  <a:spcPct val="0"/>
                </a:spcBef>
              </a:pPr>
              <a:r>
                <a:rPr lang="en-IN" sz="5400" dirty="0" smtClean="0">
                  <a:latin typeface="Times New Roman" panose="02020603050405020304" pitchFamily="18" charset="0"/>
                  <a:cs typeface="Times New Roman" panose="02020603050405020304" pitchFamily="18" charset="0"/>
                </a:rPr>
                <a:t> </a:t>
              </a:r>
              <a:r>
                <a:rPr lang="en-IN" sz="5400" dirty="0" smtClean="0">
                  <a:solidFill>
                    <a:schemeClr val="accent1">
                      <a:lumMod val="50000"/>
                    </a:schemeClr>
                  </a:solidFill>
                  <a:latin typeface="Times New Roman" panose="02020603050405020304" pitchFamily="18" charset="0"/>
                  <a:cs typeface="Times New Roman" panose="02020603050405020304" pitchFamily="18" charset="0"/>
                </a:rPr>
                <a:t>7.</a:t>
              </a:r>
              <a:r>
                <a:rPr lang="en-IN" sz="5400" b="1" dirty="0" smtClean="0">
                  <a:solidFill>
                    <a:schemeClr val="accent1">
                      <a:lumMod val="50000"/>
                    </a:schemeClr>
                  </a:solidFill>
                  <a:latin typeface="Times New Roman" panose="02020603050405020304" pitchFamily="18" charset="0"/>
                  <a:cs typeface="Times New Roman" panose="02020603050405020304" pitchFamily="18" charset="0"/>
                </a:rPr>
                <a:t>Applications</a:t>
              </a:r>
            </a:p>
            <a:p>
              <a:pPr>
                <a:lnSpc>
                  <a:spcPts val="13510"/>
                </a:lnSpc>
                <a:spcBef>
                  <a:spcPct val="0"/>
                </a:spcBef>
              </a:pPr>
              <a:endParaRPr lang="en-US" altLang="en-US" sz="3200" dirty="0">
                <a:latin typeface="Arial" panose="020B0604020202020204" pitchFamily="34" charset="0"/>
              </a:endParaRPr>
            </a:p>
            <a:p>
              <a:pPr marL="457200" lvl="0" indent="-457200" algn="just" eaLnBrk="0" fontAlgn="base" hangingPunct="0">
                <a:lnSpc>
                  <a:spcPct val="150000"/>
                </a:lnSpc>
                <a:spcBef>
                  <a:spcPct val="0"/>
                </a:spcBef>
                <a:spcAft>
                  <a:spcPct val="0"/>
                </a:spcAft>
                <a:buFont typeface="Wingdings" panose="05000000000000000000" pitchFamily="2" charset="2"/>
                <a:buChar char="ü"/>
              </a:pPr>
              <a:endParaRPr lang="en-US" altLang="en-US" sz="2800" dirty="0">
                <a:latin typeface="Arial" panose="020B0604020202020204" pitchFamily="34" charset="0"/>
              </a:endParaRPr>
            </a:p>
            <a:p>
              <a:pPr lvl="0" algn="just">
                <a:lnSpc>
                  <a:spcPts val="13510"/>
                </a:lnSpc>
                <a:spcBef>
                  <a:spcPct val="0"/>
                </a:spcBef>
              </a:pPr>
              <a:endParaRPr lang="en-US" altLang="en-US" sz="5400" dirty="0">
                <a:latin typeface="Arial" panose="020B0604020202020204" pitchFamily="34" charset="0"/>
              </a:endParaRPr>
            </a:p>
            <a:p>
              <a:pPr>
                <a:lnSpc>
                  <a:spcPts val="13510"/>
                </a:lnSpc>
                <a:spcBef>
                  <a:spcPct val="0"/>
                </a:spcBef>
              </a:pPr>
              <a:endParaRPr lang="en-IN" sz="5400" b="1" dirty="0" smtClean="0">
                <a:solidFill>
                  <a:schemeClr val="accent1">
                    <a:lumMod val="50000"/>
                  </a:schemeClr>
                </a:solidFill>
                <a:latin typeface="Times New Roman" panose="02020603050405020304" pitchFamily="18" charset="0"/>
                <a:cs typeface="Times New Roman" panose="02020603050405020304" pitchFamily="18" charset="0"/>
              </a:endParaRPr>
            </a:p>
            <a:p>
              <a:pPr>
                <a:lnSpc>
                  <a:spcPts val="13510"/>
                </a:lnSpc>
                <a:spcBef>
                  <a:spcPct val="0"/>
                </a:spcBef>
              </a:pPr>
              <a:endParaRPr lang="en-IN" sz="5400" b="1" dirty="0" smtClean="0">
                <a:solidFill>
                  <a:schemeClr val="accent1">
                    <a:lumMod val="50000"/>
                  </a:schemeClr>
                </a:solidFill>
                <a:latin typeface="Times New Roman" panose="02020603050405020304" pitchFamily="18" charset="0"/>
                <a:cs typeface="Times New Roman" panose="02020603050405020304" pitchFamily="18" charset="0"/>
              </a:endParaRPr>
            </a:p>
            <a:p>
              <a:pPr marL="0" lvl="0" indent="0">
                <a:lnSpc>
                  <a:spcPts val="13510"/>
                </a:lnSpc>
                <a:spcBef>
                  <a:spcPct val="0"/>
                </a:spcBef>
              </a:pPr>
              <a:endParaRPr lang="en-US" sz="5400" b="1" dirty="0" smtClean="0">
                <a:solidFill>
                  <a:schemeClr val="accent2">
                    <a:lumMod val="75000"/>
                  </a:schemeClr>
                </a:solidFill>
                <a:latin typeface="Agrandir"/>
                <a:ea typeface="Agrandir"/>
                <a:cs typeface="Agrandir"/>
                <a:sym typeface="Agrandir"/>
              </a:endParaRPr>
            </a:p>
            <a:p>
              <a:pPr algn="just">
                <a:lnSpc>
                  <a:spcPct val="150000"/>
                </a:lnSpc>
                <a:spcBef>
                  <a:spcPct val="0"/>
                </a:spcBef>
              </a:pPr>
              <a:r>
                <a:rPr lang="en-US" altLang="en-US" sz="2800" dirty="0" smtClean="0">
                  <a:latin typeface="Arial" panose="020B0604020202020204" pitchFamily="34" charset="0"/>
                </a:rPr>
                <a:t>The  AI-powered web application for Diabetic Retinopathy detection utilizes deep learning and a CNN-based model to provide accurate, real-time diagnosis with a user-friendly interface and remote accessibility. With secure data storage using MongoDB and scalable architecture, it enhances early detection, improves patient outcomes, and can be extended to detect other retinal diseases.</a:t>
              </a:r>
            </a:p>
            <a:p>
              <a:pPr marL="0" lvl="0" indent="0" algn="just">
                <a:lnSpc>
                  <a:spcPct val="150000"/>
                </a:lnSpc>
                <a:spcBef>
                  <a:spcPct val="0"/>
                </a:spcBef>
              </a:pPr>
              <a:endParaRPr lang="en-US" sz="2800" dirty="0" smtClean="0">
                <a:solidFill>
                  <a:srgbClr val="2B2B2B"/>
                </a:solidFill>
                <a:latin typeface="Agrandir"/>
                <a:ea typeface="Agrandir"/>
                <a:cs typeface="Agrandir"/>
                <a:sym typeface="Agrandir"/>
              </a:endParaRPr>
            </a:p>
            <a:p>
              <a:pPr marL="0" lvl="0" indent="0" algn="just">
                <a:spcBef>
                  <a:spcPct val="0"/>
                </a:spcBef>
              </a:pPr>
              <a:endParaRPr lang="en-US" sz="2400" u="none" dirty="0">
                <a:solidFill>
                  <a:srgbClr val="2B2B2B"/>
                </a:solidFill>
                <a:latin typeface="Agrandir"/>
                <a:ea typeface="Agrandir"/>
                <a:cs typeface="Agrandir"/>
                <a:sym typeface="Agrandir"/>
              </a:endParaRPr>
            </a:p>
          </p:txBody>
        </p:sp>
        <p:sp>
          <p:nvSpPr>
            <p:cNvPr id="5" name="TextBox 5"/>
            <p:cNvSpPr txBox="1"/>
            <p:nvPr/>
          </p:nvSpPr>
          <p:spPr>
            <a:xfrm>
              <a:off x="0" y="2925523"/>
              <a:ext cx="18154054" cy="1038860"/>
            </a:xfrm>
            <a:prstGeom prst="rect">
              <a:avLst/>
            </a:prstGeom>
          </p:spPr>
          <p:txBody>
            <a:bodyPr lIns="0" tIns="0" rIns="0" bIns="0" rtlCol="0" anchor="t">
              <a:spAutoFit/>
            </a:bodyPr>
            <a:lstStyle/>
            <a:p>
              <a:pPr marL="0" lvl="0" indent="0" algn="ctr">
                <a:lnSpc>
                  <a:spcPts val="5854"/>
                </a:lnSpc>
              </a:pPr>
              <a:endParaRPr/>
            </a:p>
          </p:txBody>
        </p:sp>
      </p:grpSp>
      <p:pic>
        <p:nvPicPr>
          <p:cNvPr id="6" name="Picture 6"/>
          <p:cNvPicPr>
            <a:picLocks noChangeAspect="1"/>
          </p:cNvPicPr>
          <p:nvPr/>
        </p:nvPicPr>
        <p:blipFill>
          <a:blip r:embed="rId3">
            <a:alphaModFix amt="25000"/>
          </a:blip>
          <a:srcRect/>
          <a:stretch>
            <a:fillRect/>
          </a:stretch>
        </p:blipFill>
        <p:spPr>
          <a:xfrm>
            <a:off x="11511932" y="6947324"/>
            <a:ext cx="8674222" cy="7652259"/>
          </a:xfrm>
          <a:prstGeom prst="rect">
            <a:avLst/>
          </a:prstGeom>
        </p:spPr>
      </p:pic>
      <p:pic>
        <p:nvPicPr>
          <p:cNvPr id="7" name="Picture 7"/>
          <p:cNvPicPr>
            <a:picLocks noChangeAspect="1"/>
          </p:cNvPicPr>
          <p:nvPr/>
        </p:nvPicPr>
        <p:blipFill>
          <a:blip r:embed="rId4">
            <a:alphaModFix amt="25000"/>
          </a:blip>
          <a:srcRect/>
          <a:stretch>
            <a:fillRect/>
          </a:stretch>
        </p:blipFill>
        <p:spPr>
          <a:xfrm>
            <a:off x="15141061" y="2810706"/>
            <a:ext cx="6293877" cy="5612932"/>
          </a:xfrm>
          <a:prstGeom prst="rect">
            <a:avLst/>
          </a:prstGeom>
        </p:spPr>
      </p:pic>
      <p:pic>
        <p:nvPicPr>
          <p:cNvPr id="8" name="Picture 8"/>
          <p:cNvPicPr>
            <a:picLocks noChangeAspect="1"/>
          </p:cNvPicPr>
          <p:nvPr/>
        </p:nvPicPr>
        <p:blipFill>
          <a:blip r:embed="rId5">
            <a:alphaModFix amt="25000"/>
          </a:blip>
          <a:srcRect/>
          <a:stretch>
            <a:fillRect/>
          </a:stretch>
        </p:blipFill>
        <p:spPr>
          <a:xfrm rot="-3435299">
            <a:off x="-4497971" y="4354497"/>
            <a:ext cx="6335313" cy="7076795"/>
          </a:xfrm>
          <a:prstGeom prst="rect">
            <a:avLst/>
          </a:prstGeom>
        </p:spPr>
      </p:pic>
      <p:sp>
        <p:nvSpPr>
          <p:cNvPr id="9"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9"/>
          <p:cNvSpPr/>
          <p:nvPr/>
        </p:nvSpPr>
        <p:spPr>
          <a:xfrm>
            <a:off x="1524000" y="3314698"/>
            <a:ext cx="14097000" cy="5016758"/>
          </a:xfrm>
          <a:prstGeom prst="rect">
            <a:avLst/>
          </a:prstGeom>
        </p:spPr>
        <p:txBody>
          <a:bodyPr wrap="square">
            <a:spAutoFit/>
          </a:bodyPr>
          <a:lstStyle/>
          <a:p>
            <a:pPr marL="571500" indent="-571500">
              <a:buFont typeface="Wingdings" pitchFamily="2" charset="2"/>
              <a:buChar char="§"/>
            </a:pPr>
            <a:r>
              <a:rPr lang="en-US" sz="4000" b="1" dirty="0"/>
              <a:t>AI-Powered Symptom Checkers</a:t>
            </a:r>
            <a:r>
              <a:rPr lang="en-US" sz="4000" dirty="0"/>
              <a:t> – Helps users identify possible health conditions based on symptoms. </a:t>
            </a:r>
            <a:endParaRPr lang="en-US" sz="4000" dirty="0" smtClean="0"/>
          </a:p>
          <a:p>
            <a:endParaRPr lang="en-US" sz="4000" dirty="0" smtClean="0"/>
          </a:p>
          <a:p>
            <a:pPr marL="571500" indent="-571500">
              <a:buFont typeface="Wingdings" pitchFamily="2" charset="2"/>
              <a:buChar char="§"/>
            </a:pPr>
            <a:r>
              <a:rPr lang="en-US" sz="4000" b="1" dirty="0" smtClean="0"/>
              <a:t>Medical </a:t>
            </a:r>
            <a:r>
              <a:rPr lang="en-US" sz="4000" b="1" dirty="0" err="1"/>
              <a:t>Chatbots</a:t>
            </a:r>
            <a:r>
              <a:rPr lang="en-US" sz="4000" b="1" dirty="0"/>
              <a:t> &amp; Virtual Assistants</a:t>
            </a:r>
            <a:r>
              <a:rPr lang="en-US" sz="4000" dirty="0"/>
              <a:t> – Provides instant health advice and appointment scheduling</a:t>
            </a:r>
            <a:r>
              <a:rPr lang="en-US" sz="4000" dirty="0" smtClean="0"/>
              <a:t>.</a:t>
            </a:r>
          </a:p>
          <a:p>
            <a:pPr marL="571500" indent="-571500">
              <a:buFont typeface="Wingdings" pitchFamily="2" charset="2"/>
              <a:buChar char="§"/>
            </a:pPr>
            <a:r>
              <a:rPr lang="en-US" sz="4000" dirty="0" smtClean="0"/>
              <a:t> </a:t>
            </a:r>
          </a:p>
          <a:p>
            <a:pPr marL="571500" indent="-571500">
              <a:buFont typeface="Wingdings" pitchFamily="2" charset="2"/>
              <a:buChar char="§"/>
            </a:pPr>
            <a:r>
              <a:rPr lang="en-US" sz="4000" b="1" dirty="0" smtClean="0"/>
              <a:t>Clinical </a:t>
            </a:r>
            <a:r>
              <a:rPr lang="en-US" sz="4000" b="1" dirty="0"/>
              <a:t>Documentation Automation</a:t>
            </a:r>
            <a:r>
              <a:rPr lang="en-US" sz="4000" dirty="0"/>
              <a:t> – Generates patient reports, prescriptions, and summaries.</a:t>
            </a:r>
            <a:endParaRPr lang="en-IN" sz="40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25000"/>
          </a:blip>
          <a:srcRect/>
          <a:stretch>
            <a:fillRect/>
          </a:stretch>
        </p:blipFill>
        <p:spPr>
          <a:xfrm>
            <a:off x="-5029200" y="-4914900"/>
            <a:ext cx="13761077" cy="14153590"/>
          </a:xfrm>
          <a:prstGeom prst="rect">
            <a:avLst/>
          </a:prstGeom>
        </p:spPr>
      </p:pic>
      <p:grpSp>
        <p:nvGrpSpPr>
          <p:cNvPr id="3" name="Group 3"/>
          <p:cNvGrpSpPr/>
          <p:nvPr/>
        </p:nvGrpSpPr>
        <p:grpSpPr>
          <a:xfrm>
            <a:off x="1066800" y="1409700"/>
            <a:ext cx="16154400" cy="5107672"/>
            <a:chOff x="-1692573" y="-323849"/>
            <a:chExt cx="19846627" cy="4288232"/>
          </a:xfrm>
        </p:grpSpPr>
        <p:sp>
          <p:nvSpPr>
            <p:cNvPr id="4" name="TextBox 4"/>
            <p:cNvSpPr txBox="1"/>
            <p:nvPr/>
          </p:nvSpPr>
          <p:spPr>
            <a:xfrm>
              <a:off x="-1692573" y="-323849"/>
              <a:ext cx="19846627" cy="3449627"/>
            </a:xfrm>
            <a:prstGeom prst="rect">
              <a:avLst/>
            </a:prstGeom>
          </p:spPr>
          <p:txBody>
            <a:bodyPr wrap="square" lIns="0" tIns="0" rIns="0" bIns="0" rtlCol="0" anchor="t">
              <a:spAutoFit/>
            </a:bodyPr>
            <a:lstStyle/>
            <a:p>
              <a:pPr>
                <a:lnSpc>
                  <a:spcPts val="13510"/>
                </a:lnSpc>
                <a:spcBef>
                  <a:spcPct val="0"/>
                </a:spcBef>
              </a:pPr>
              <a:r>
                <a:rPr lang="en-IN" sz="5400" dirty="0" smtClean="0">
                  <a:latin typeface="Times New Roman" panose="02020603050405020304" pitchFamily="18" charset="0"/>
                  <a:cs typeface="Times New Roman" panose="02020603050405020304" pitchFamily="18" charset="0"/>
                </a:rPr>
                <a:t> </a:t>
              </a:r>
              <a:r>
                <a:rPr lang="en-IN" sz="5400" b="1" dirty="0" smtClean="0">
                  <a:solidFill>
                    <a:schemeClr val="accent1">
                      <a:lumMod val="50000"/>
                    </a:schemeClr>
                  </a:solidFill>
                  <a:latin typeface="Times New Roman" panose="02020603050405020304" pitchFamily="18" charset="0"/>
                  <a:cs typeface="Times New Roman" panose="02020603050405020304" pitchFamily="18" charset="0"/>
                </a:rPr>
                <a:t> Conclusion</a:t>
              </a:r>
              <a:endParaRPr lang="en-IN" sz="5400" b="1" dirty="0">
                <a:solidFill>
                  <a:schemeClr val="accent1">
                    <a:lumMod val="50000"/>
                  </a:schemeClr>
                </a:solidFill>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pPr>
              <a:endParaRPr lang="en-US" altLang="en-US" sz="2800" dirty="0">
                <a:latin typeface="Arial" panose="020B0604020202020204" pitchFamily="34" charset="0"/>
              </a:endParaRPr>
            </a:p>
            <a:p>
              <a:pPr lvl="0" algn="just">
                <a:lnSpc>
                  <a:spcPts val="13510"/>
                </a:lnSpc>
                <a:spcBef>
                  <a:spcPct val="0"/>
                </a:spcBef>
              </a:pPr>
              <a:endParaRPr lang="en-US" altLang="en-US" sz="5400" dirty="0">
                <a:latin typeface="Arial" panose="020B0604020202020204" pitchFamily="34" charset="0"/>
              </a:endParaRPr>
            </a:p>
          </p:txBody>
        </p:sp>
        <p:sp>
          <p:nvSpPr>
            <p:cNvPr id="5" name="TextBox 5"/>
            <p:cNvSpPr txBox="1"/>
            <p:nvPr/>
          </p:nvSpPr>
          <p:spPr>
            <a:xfrm>
              <a:off x="0" y="2925523"/>
              <a:ext cx="18154054" cy="1038860"/>
            </a:xfrm>
            <a:prstGeom prst="rect">
              <a:avLst/>
            </a:prstGeom>
          </p:spPr>
          <p:txBody>
            <a:bodyPr lIns="0" tIns="0" rIns="0" bIns="0" rtlCol="0" anchor="t">
              <a:spAutoFit/>
            </a:bodyPr>
            <a:lstStyle/>
            <a:p>
              <a:pPr marL="0" lvl="0" indent="0" algn="ctr">
                <a:lnSpc>
                  <a:spcPts val="5854"/>
                </a:lnSpc>
              </a:pPr>
              <a:endParaRPr/>
            </a:p>
          </p:txBody>
        </p:sp>
      </p:grpSp>
      <p:pic>
        <p:nvPicPr>
          <p:cNvPr id="6" name="Picture 6"/>
          <p:cNvPicPr>
            <a:picLocks noChangeAspect="1"/>
          </p:cNvPicPr>
          <p:nvPr/>
        </p:nvPicPr>
        <p:blipFill>
          <a:blip r:embed="rId3">
            <a:alphaModFix amt="25000"/>
          </a:blip>
          <a:srcRect/>
          <a:stretch>
            <a:fillRect/>
          </a:stretch>
        </p:blipFill>
        <p:spPr>
          <a:xfrm>
            <a:off x="11511932" y="6947324"/>
            <a:ext cx="8674222" cy="7652259"/>
          </a:xfrm>
          <a:prstGeom prst="rect">
            <a:avLst/>
          </a:prstGeom>
        </p:spPr>
      </p:pic>
      <p:pic>
        <p:nvPicPr>
          <p:cNvPr id="7" name="Picture 7"/>
          <p:cNvPicPr>
            <a:picLocks noChangeAspect="1"/>
          </p:cNvPicPr>
          <p:nvPr/>
        </p:nvPicPr>
        <p:blipFill>
          <a:blip r:embed="rId4">
            <a:alphaModFix amt="25000"/>
          </a:blip>
          <a:srcRect/>
          <a:stretch>
            <a:fillRect/>
          </a:stretch>
        </p:blipFill>
        <p:spPr>
          <a:xfrm>
            <a:off x="15141061" y="2810706"/>
            <a:ext cx="6293877" cy="5612932"/>
          </a:xfrm>
          <a:prstGeom prst="rect">
            <a:avLst/>
          </a:prstGeom>
        </p:spPr>
      </p:pic>
      <p:pic>
        <p:nvPicPr>
          <p:cNvPr id="8" name="Picture 8"/>
          <p:cNvPicPr>
            <a:picLocks noChangeAspect="1"/>
          </p:cNvPicPr>
          <p:nvPr/>
        </p:nvPicPr>
        <p:blipFill>
          <a:blip r:embed="rId5">
            <a:alphaModFix amt="25000"/>
          </a:blip>
          <a:srcRect/>
          <a:stretch>
            <a:fillRect/>
          </a:stretch>
        </p:blipFill>
        <p:spPr>
          <a:xfrm rot="-3435299">
            <a:off x="-4497971" y="4354497"/>
            <a:ext cx="6335313" cy="7076795"/>
          </a:xfrm>
          <a:prstGeom prst="rect">
            <a:avLst/>
          </a:prstGeom>
        </p:spPr>
      </p:pic>
      <p:sp>
        <p:nvSpPr>
          <p:cNvPr id="9" name="Rectangle 1"/>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7" name="Rectangle 7"/>
          <p:cNvSpPr>
            <a:spLocks noChangeArrowheads="1"/>
          </p:cNvSpPr>
          <p:nvPr/>
        </p:nvSpPr>
        <p:spPr bwMode="auto">
          <a:xfrm>
            <a:off x="762000" y="3939025"/>
            <a:ext cx="1645920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lang="en-US" sz="4000" dirty="0"/>
              <a:t>Prompt engineering is revolutionizing healthcare by enhancing AI-driven medical support. While it offers significant benefits in diagnosis, treatment, and research, challenges like data quality, ethics, and AI bias must be addressed. With continued advancements, prompt engineering will play a crucial role in the future of AI-powered healthcare.</a:t>
            </a:r>
            <a:endParaRPr kumimoji="0" lang="en-US" altLang="en-US" sz="40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7263587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25000"/>
          </a:blip>
          <a:srcRect/>
          <a:stretch>
            <a:fillRect/>
          </a:stretch>
        </p:blipFill>
        <p:spPr>
          <a:xfrm>
            <a:off x="-1662681" y="-6438340"/>
            <a:ext cx="13761077" cy="14153590"/>
          </a:xfrm>
          <a:prstGeom prst="rect">
            <a:avLst/>
          </a:prstGeom>
        </p:spPr>
      </p:pic>
      <p:grpSp>
        <p:nvGrpSpPr>
          <p:cNvPr id="3" name="Group 3"/>
          <p:cNvGrpSpPr/>
          <p:nvPr/>
        </p:nvGrpSpPr>
        <p:grpSpPr>
          <a:xfrm>
            <a:off x="2336230" y="3731149"/>
            <a:ext cx="13615540" cy="3216174"/>
            <a:chOff x="0" y="-323849"/>
            <a:chExt cx="18154054" cy="4288232"/>
          </a:xfrm>
        </p:grpSpPr>
        <p:sp>
          <p:nvSpPr>
            <p:cNvPr id="4" name="TextBox 4"/>
            <p:cNvSpPr txBox="1"/>
            <p:nvPr/>
          </p:nvSpPr>
          <p:spPr>
            <a:xfrm>
              <a:off x="0" y="-323849"/>
              <a:ext cx="18154054" cy="2308324"/>
            </a:xfrm>
            <a:prstGeom prst="rect">
              <a:avLst/>
            </a:prstGeom>
            <a:solidFill>
              <a:schemeClr val="tx2">
                <a:lumMod val="60000"/>
                <a:lumOff val="40000"/>
              </a:schemeClr>
            </a:solidFill>
          </p:spPr>
          <p:txBody>
            <a:bodyPr lIns="0" tIns="0" rIns="0" bIns="0" rtlCol="0" anchor="t">
              <a:spAutoFit/>
            </a:bodyPr>
            <a:lstStyle/>
            <a:p>
              <a:pPr marL="0" lvl="0" indent="0" algn="ctr">
                <a:lnSpc>
                  <a:spcPts val="13510"/>
                </a:lnSpc>
                <a:spcBef>
                  <a:spcPct val="0"/>
                </a:spcBef>
              </a:pPr>
              <a:r>
                <a:rPr lang="en-US" sz="11258" u="none" dirty="0">
                  <a:solidFill>
                    <a:srgbClr val="2B2B2B"/>
                  </a:solidFill>
                  <a:latin typeface="Agrandir"/>
                  <a:ea typeface="Agrandir"/>
                  <a:cs typeface="Agrandir"/>
                  <a:sym typeface="Agrandir"/>
                </a:rPr>
                <a:t>Thank </a:t>
              </a:r>
              <a:r>
                <a:rPr lang="en-US" sz="11258" u="none" dirty="0" smtClean="0">
                  <a:solidFill>
                    <a:srgbClr val="2B2B2B"/>
                  </a:solidFill>
                  <a:latin typeface="Agrandir"/>
                  <a:ea typeface="Agrandir"/>
                  <a:cs typeface="Agrandir"/>
                  <a:sym typeface="Agrandir"/>
                </a:rPr>
                <a:t>you</a:t>
              </a:r>
              <a:endParaRPr lang="en-US" sz="11258" u="none" dirty="0">
                <a:solidFill>
                  <a:srgbClr val="2B2B2B"/>
                </a:solidFill>
                <a:latin typeface="Agrandir"/>
                <a:ea typeface="Agrandir"/>
                <a:cs typeface="Agrandir"/>
                <a:sym typeface="Agrandir"/>
              </a:endParaRPr>
            </a:p>
          </p:txBody>
        </p:sp>
        <p:sp>
          <p:nvSpPr>
            <p:cNvPr id="5" name="TextBox 5"/>
            <p:cNvSpPr txBox="1"/>
            <p:nvPr/>
          </p:nvSpPr>
          <p:spPr>
            <a:xfrm>
              <a:off x="0" y="2925523"/>
              <a:ext cx="18154054" cy="1038860"/>
            </a:xfrm>
            <a:prstGeom prst="rect">
              <a:avLst/>
            </a:prstGeom>
          </p:spPr>
          <p:txBody>
            <a:bodyPr lIns="0" tIns="0" rIns="0" bIns="0" rtlCol="0" anchor="t">
              <a:spAutoFit/>
            </a:bodyPr>
            <a:lstStyle/>
            <a:p>
              <a:pPr marL="0" lvl="0" indent="0" algn="ctr">
                <a:lnSpc>
                  <a:spcPts val="5854"/>
                </a:lnSpc>
              </a:pPr>
              <a:endParaRPr/>
            </a:p>
          </p:txBody>
        </p:sp>
      </p:grpSp>
      <p:pic>
        <p:nvPicPr>
          <p:cNvPr id="6" name="Picture 6"/>
          <p:cNvPicPr>
            <a:picLocks noChangeAspect="1"/>
          </p:cNvPicPr>
          <p:nvPr/>
        </p:nvPicPr>
        <p:blipFill>
          <a:blip r:embed="rId3">
            <a:alphaModFix amt="25000"/>
          </a:blip>
          <a:srcRect/>
          <a:stretch>
            <a:fillRect/>
          </a:stretch>
        </p:blipFill>
        <p:spPr>
          <a:xfrm>
            <a:off x="11511932" y="6947324"/>
            <a:ext cx="8674222" cy="7652259"/>
          </a:xfrm>
          <a:prstGeom prst="rect">
            <a:avLst/>
          </a:prstGeom>
        </p:spPr>
      </p:pic>
      <p:pic>
        <p:nvPicPr>
          <p:cNvPr id="7" name="Picture 7"/>
          <p:cNvPicPr>
            <a:picLocks noChangeAspect="1"/>
          </p:cNvPicPr>
          <p:nvPr/>
        </p:nvPicPr>
        <p:blipFill>
          <a:blip r:embed="rId4">
            <a:alphaModFix amt="25000"/>
          </a:blip>
          <a:srcRect/>
          <a:stretch>
            <a:fillRect/>
          </a:stretch>
        </p:blipFill>
        <p:spPr>
          <a:xfrm>
            <a:off x="15141061" y="2810706"/>
            <a:ext cx="6293877" cy="5612932"/>
          </a:xfrm>
          <a:prstGeom prst="rect">
            <a:avLst/>
          </a:prstGeom>
        </p:spPr>
      </p:pic>
      <p:pic>
        <p:nvPicPr>
          <p:cNvPr id="8" name="Picture 8"/>
          <p:cNvPicPr>
            <a:picLocks noChangeAspect="1"/>
          </p:cNvPicPr>
          <p:nvPr/>
        </p:nvPicPr>
        <p:blipFill>
          <a:blip r:embed="rId5">
            <a:alphaModFix amt="25000"/>
          </a:blip>
          <a:srcRect/>
          <a:stretch>
            <a:fillRect/>
          </a:stretch>
        </p:blipFill>
        <p:spPr>
          <a:xfrm rot="-3435299">
            <a:off x="-3167656" y="638455"/>
            <a:ext cx="6335313" cy="7076795"/>
          </a:xfrm>
          <a:prstGeom prst="rect">
            <a:avLst/>
          </a:prstGeom>
        </p:spPr>
      </p:pic>
    </p:spTree>
    <p:extLst>
      <p:ext uri="{BB962C8B-B14F-4D97-AF65-F5344CB8AC3E}">
        <p14:creationId xmlns:p14="http://schemas.microsoft.com/office/powerpoint/2010/main" val="398930434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606</TotalTime>
  <Words>758</Words>
  <Application>Microsoft Office PowerPoint</Application>
  <PresentationFormat>Custom</PresentationFormat>
  <Paragraphs>122</Paragraphs>
  <Slides>13</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Arial</vt:lpstr>
      <vt:lpstr>Agrandir Bold</vt:lpstr>
      <vt:lpstr>Times New Roman</vt:lpstr>
      <vt:lpstr>Calibri Light</vt:lpstr>
      <vt:lpstr>Wingdings</vt:lpstr>
      <vt:lpstr>Figtree</vt:lpstr>
      <vt:lpstr>Times New Roman Bold</vt:lpstr>
      <vt:lpstr>Agrandir</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Title Here</dc:title>
  <dc:creator>DELL</dc:creator>
  <cp:lastModifiedBy>ANUSHREE</cp:lastModifiedBy>
  <cp:revision>85</cp:revision>
  <dcterms:created xsi:type="dcterms:W3CDTF">2006-08-16T00:00:00Z</dcterms:created>
  <dcterms:modified xsi:type="dcterms:W3CDTF">2025-03-20T17:01:58Z</dcterms:modified>
  <dc:identifier>DAGK1XjXKBk</dc:identifier>
</cp:coreProperties>
</file>